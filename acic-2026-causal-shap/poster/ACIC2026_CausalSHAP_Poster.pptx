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webp" ContentType="image/webp"/>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43891200" cy="32918400"/>
  <p:notesSz cx="6858000" cy="9144000"/>
  <p:embeddedFontLst>
    <p:embeddedFont>
      <p:font typeface="Helvetica Neue" panose="020B0604020202020204"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jFaqWLE/HGfowgWYFJ0EbUeRfQ7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 d="100"/>
          <a:sy n="19" d="100"/>
        </p:scale>
        <p:origin x="107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11" Type="http://customschemas.google.com/relationships/presentationmetadata" Target="meta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3" name="Google Shape;8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42875" lvl="0" indent="-142875" algn="l" rtl="0">
              <a:lnSpc>
                <a:spcPct val="100000"/>
              </a:lnSpc>
              <a:spcBef>
                <a:spcPts val="0"/>
              </a:spcBef>
              <a:spcAft>
                <a:spcPts val="0"/>
              </a:spcAft>
              <a:buSzPts val="1400"/>
              <a:buNone/>
            </a:pPr>
            <a:r>
              <a:rPr lang="en-US" dirty="0"/>
              <a:t>Notes:</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In </a:t>
            </a:r>
            <a:r>
              <a:rPr lang="en-US" dirty="0" err="1"/>
              <a:t>Powerpoint</a:t>
            </a:r>
            <a:r>
              <a:rPr lang="en-US" dirty="0"/>
              <a:t>, click View &gt; Guides</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Keep text within gutter guides.</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Author list: Don’t split names onto two lines (e.g., “Jimmy [break] Smith”). If that happens, use a new line, unless you need the space. </a:t>
            </a:r>
            <a:r>
              <a:rPr lang="en-US" b="1" dirty="0">
                <a:latin typeface="Helvetica Neue"/>
                <a:ea typeface="Helvetica Neue"/>
                <a:cs typeface="Helvetica Neue"/>
                <a:sym typeface="Helvetica Neue"/>
              </a:rPr>
              <a:t>Bold the first names of anybody who’s presenting</a:t>
            </a:r>
            <a:r>
              <a:rPr lang="en-US" dirty="0"/>
              <a:t> in person.</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Intro/methods/result: </a:t>
            </a:r>
            <a:r>
              <a:rPr lang="en-US" b="1" dirty="0">
                <a:latin typeface="Helvetica Neue"/>
                <a:ea typeface="Helvetica Neue"/>
                <a:cs typeface="Helvetica Neue"/>
                <a:sym typeface="Helvetica Neue"/>
              </a:rPr>
              <a:t>Do not drop below font size 28</a:t>
            </a:r>
            <a:r>
              <a:rPr lang="en-US" dirty="0"/>
              <a:t>, but if you have extra space, jack up the font size until the space is full.</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Do not use color in the sidebars except in graphs/figures. It’ll pull attention from the center and slow interpretation for passersby.</a:t>
            </a:r>
            <a:endParaRPr dirty="0"/>
          </a:p>
        </p:txBody>
      </p:sp>
      <p:sp>
        <p:nvSpPr>
          <p:cNvPr id="84" name="Google Shape;8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3"/>
          <p:cNvSpPr/>
          <p:nvPr/>
        </p:nvSpPr>
        <p:spPr>
          <a:xfrm>
            <a:off x="10623220" y="0"/>
            <a:ext cx="23810491" cy="32918400"/>
          </a:xfrm>
          <a:prstGeom prst="rect">
            <a:avLst/>
          </a:prstGeom>
          <a:solidFill>
            <a:schemeClr val="bg2">
              <a:lumMod val="20000"/>
              <a:lumOff val="8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258"/>
              <a:buFont typeface="Arial"/>
              <a:buNone/>
            </a:pPr>
            <a:endParaRPr sz="7258" b="0" i="0" u="none" strike="noStrike" cap="none" dirty="0">
              <a:solidFill>
                <a:schemeClr val="lt1"/>
              </a:solidFill>
              <a:latin typeface="Calibri"/>
              <a:ea typeface="Calibri"/>
              <a:cs typeface="Calibri"/>
              <a:sym typeface="Calibri"/>
            </a:endParaRPr>
          </a:p>
        </p:txBody>
      </p:sp>
      <p:pic>
        <p:nvPicPr>
          <p:cNvPr id="17" name="Google Shape;17;p3" descr="A close up of a sign&#10;&#10;Description automatically generated"/>
          <p:cNvPicPr preferRelativeResize="0"/>
          <p:nvPr/>
        </p:nvPicPr>
        <p:blipFill rotWithShape="1">
          <a:blip r:embed="rId2">
            <a:alphaModFix/>
          </a:blip>
          <a:srcRect/>
          <a:stretch/>
        </p:blipFill>
        <p:spPr>
          <a:xfrm>
            <a:off x="35633830" y="29427010"/>
            <a:ext cx="6845087" cy="269654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3017520" y="1752607"/>
            <a:ext cx="37856160" cy="6362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
          <p:cNvSpPr txBox="1">
            <a:spLocks noGrp="1"/>
          </p:cNvSpPr>
          <p:nvPr>
            <p:ph type="body" idx="1"/>
          </p:nvPr>
        </p:nvSpPr>
        <p:spPr>
          <a:xfrm>
            <a:off x="3017520" y="8763000"/>
            <a:ext cx="37856160" cy="20886422"/>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2"/>
          <p:cNvSpPr txBox="1">
            <a:spLocks noGrp="1"/>
          </p:cNvSpPr>
          <p:nvPr>
            <p:ph type="dt" idx="10"/>
          </p:nvPr>
        </p:nvSpPr>
        <p:spPr>
          <a:xfrm>
            <a:off x="3017520" y="30510487"/>
            <a:ext cx="9875520" cy="17526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576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14538960" y="30510487"/>
            <a:ext cx="14813280" cy="17526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576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sldNum" idx="12"/>
          </p:nvPr>
        </p:nvSpPr>
        <p:spPr>
          <a:xfrm>
            <a:off x="30998160" y="30510487"/>
            <a:ext cx="9875520" cy="17526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web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
          <p:cNvSpPr txBox="1"/>
          <p:nvPr/>
        </p:nvSpPr>
        <p:spPr>
          <a:xfrm>
            <a:off x="12061401" y="1669536"/>
            <a:ext cx="21720599" cy="4708941"/>
          </a:xfrm>
          <a:prstGeom prst="rect">
            <a:avLst/>
          </a:prstGeom>
          <a:noFill/>
          <a:ln>
            <a:noFill/>
          </a:ln>
        </p:spPr>
        <p:txBody>
          <a:bodyPr spcFirstLastPara="1" wrap="square" lIns="91425" tIns="45700" rIns="91425" bIns="45700" anchor="t" anchorCtr="0">
            <a:spAutoFit/>
          </a:bodyPr>
          <a:lstStyle/>
          <a:p>
            <a:pPr marL="0" marR="0" lvl="0" indent="0" algn="ctr" rtl="0">
              <a:lnSpc>
                <a:spcPct val="150000"/>
              </a:lnSpc>
              <a:spcBef>
                <a:spcPts val="0"/>
              </a:spcBef>
              <a:spcAft>
                <a:spcPts val="0"/>
              </a:spcAft>
              <a:buClr>
                <a:srgbClr val="000000"/>
              </a:buClr>
              <a:buSzPts val="10000"/>
              <a:buFont typeface="Arial"/>
              <a:buNone/>
            </a:pPr>
            <a:r>
              <a:rPr lang="en-US" sz="10000" b="1" i="0" u="none" strike="noStrike" cap="none" dirty="0">
                <a:solidFill>
                  <a:schemeClr val="accent2">
                    <a:lumMod val="75000"/>
                  </a:schemeClr>
                </a:solidFill>
                <a:latin typeface="Arial"/>
                <a:ea typeface="Arial"/>
                <a:cs typeface="Arial"/>
                <a:sym typeface="Arial"/>
              </a:rPr>
              <a:t>SHAP has short memory.</a:t>
            </a:r>
          </a:p>
          <a:p>
            <a:pPr marL="0" marR="0" lvl="0" indent="0" algn="ctr" rtl="0">
              <a:lnSpc>
                <a:spcPct val="150000"/>
              </a:lnSpc>
              <a:spcBef>
                <a:spcPts val="0"/>
              </a:spcBef>
              <a:spcAft>
                <a:spcPts val="0"/>
              </a:spcAft>
              <a:buClr>
                <a:srgbClr val="000000"/>
              </a:buClr>
              <a:buSzPts val="10000"/>
              <a:buFont typeface="Arial"/>
              <a:buNone/>
            </a:pPr>
            <a:r>
              <a:rPr lang="en-US" sz="10000" b="1" dirty="0">
                <a:solidFill>
                  <a:schemeClr val="accent5">
                    <a:lumMod val="75000"/>
                  </a:schemeClr>
                </a:solidFill>
              </a:rPr>
              <a:t>Downstream variables </a:t>
            </a:r>
            <a:r>
              <a:rPr lang="en-US" sz="10000" i="1" dirty="0">
                <a:solidFill>
                  <a:srgbClr val="FF0000"/>
                </a:solidFill>
              </a:rPr>
              <a:t>HOG</a:t>
            </a:r>
            <a:r>
              <a:rPr lang="en-US" sz="10000" b="1" dirty="0">
                <a:solidFill>
                  <a:schemeClr val="accent5">
                    <a:lumMod val="75000"/>
                  </a:schemeClr>
                </a:solidFill>
              </a:rPr>
              <a:t> credit!</a:t>
            </a:r>
            <a:endParaRPr sz="1400" b="0" i="0" u="none" strike="noStrike" cap="none" dirty="0">
              <a:solidFill>
                <a:schemeClr val="accent5">
                  <a:lumMod val="75000"/>
                </a:schemeClr>
              </a:solidFill>
              <a:latin typeface="Arial"/>
              <a:ea typeface="Arial"/>
              <a:cs typeface="Arial"/>
              <a:sym typeface="Arial"/>
            </a:endParaRPr>
          </a:p>
        </p:txBody>
      </p:sp>
      <p:sp>
        <p:nvSpPr>
          <p:cNvPr id="102" name="Google Shape;102;p1" descr="TextBox 2"/>
          <p:cNvSpPr txBox="1"/>
          <p:nvPr/>
        </p:nvSpPr>
        <p:spPr>
          <a:xfrm>
            <a:off x="342557" y="10319234"/>
            <a:ext cx="9842648" cy="15850453"/>
          </a:xfrm>
          <a:prstGeom prst="rect">
            <a:avLst/>
          </a:prstGeom>
          <a:noFill/>
          <a:ln>
            <a:noFill/>
          </a:ln>
        </p:spPr>
        <p:txBody>
          <a:bodyPr spcFirstLastPara="1" wrap="square" lIns="45700" tIns="45700" rIns="45700" bIns="45700" anchor="t" anchorCtr="0">
            <a:spAutoFit/>
          </a:bodyPr>
          <a:lstStyle/>
          <a:p>
            <a:r>
              <a:rPr lang="en-US" sz="3200" b="1" dirty="0"/>
              <a:t>Abstract</a:t>
            </a:r>
          </a:p>
          <a:p>
            <a:r>
              <a:rPr lang="en-US" sz="3200" dirty="0"/>
              <a:t>Feature importance methods such as SHAP are widely used to help explain machine learning models in health research and other areas. Yet these methods can misattribute feature importance when features have causal structure. Specifically, mediators can absorb credit from upstream causes — a topological artifact that inflates their apparent importance at the expense of upstream causal drivers.</a:t>
            </a:r>
          </a:p>
          <a:p>
            <a:endParaRPr lang="en-US" sz="3200" dirty="0"/>
          </a:p>
          <a:p>
            <a:r>
              <a:rPr lang="en-US" sz="3200" dirty="0"/>
              <a:t>We propose an expert-augmented workflow for DAG-consistent feature attribution that combines constrained causal discovery with an interactive DAG interface to resolve ambiguous edges before computing causal SHAP. The workflow supports iterative refinement through required and forbidden edges and compares standard, DAG-constrained, and adjustment-set SHAP.</a:t>
            </a:r>
          </a:p>
          <a:p>
            <a:endParaRPr lang="en-US" sz="3200" dirty="0"/>
          </a:p>
          <a:p>
            <a:r>
              <a:rPr lang="en-US" sz="3200" dirty="0"/>
              <a:t>We evaluated the approach in synthetic data generated under known DAGs using the R package </a:t>
            </a:r>
            <a:r>
              <a:rPr lang="en-US" sz="3200" i="1" dirty="0" err="1"/>
              <a:t>simcausal</a:t>
            </a:r>
            <a:r>
              <a:rPr lang="en-US" sz="3200" dirty="0"/>
              <a:t> and in real-world MIMIC-IV data. In simulations, standard SHAP over-attributed importance to mediators, whereas causal SHAP re-ranked features (Kendall’s τ=0.42 between methods) and reduced mediator inflation. In MIMIC-IV, the expert-informed DAG helped distinguish upstream severity drivers from downstream interventions. These results support expert-guided DAG refinement as a practical route to more causally coherent explanations in structured clinical machine learning.</a:t>
            </a:r>
          </a:p>
        </p:txBody>
      </p:sp>
      <p:sp>
        <p:nvSpPr>
          <p:cNvPr id="105" name="Google Shape;105;p1" descr="TextBox 20"/>
          <p:cNvSpPr txBox="1"/>
          <p:nvPr/>
        </p:nvSpPr>
        <p:spPr>
          <a:xfrm>
            <a:off x="342557" y="635206"/>
            <a:ext cx="9842648" cy="5078273"/>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000000"/>
              </a:buClr>
              <a:buSzPts val="5400"/>
              <a:buFont typeface="Arial"/>
              <a:buNone/>
            </a:pPr>
            <a:r>
              <a:rPr lang="en-US" sz="5400" b="1" i="1" u="none" strike="noStrike" cap="none" spc="300" dirty="0">
                <a:solidFill>
                  <a:srgbClr val="0033A0"/>
                </a:solidFill>
                <a:latin typeface="Arial"/>
                <a:ea typeface="Arial"/>
                <a:cs typeface="Arial"/>
                <a:sym typeface="Arial"/>
              </a:rPr>
              <a:t>Expert-Augmented Causal SHAP: recovering DAG-consistent feature importance via iterative causal discovery and domain knowledge.</a:t>
            </a:r>
            <a:endParaRPr sz="5400" b="1" i="1" u="none" strike="noStrike" cap="none" spc="300" dirty="0">
              <a:solidFill>
                <a:srgbClr val="0033A0"/>
              </a:solidFill>
              <a:latin typeface="Arial"/>
              <a:ea typeface="Arial"/>
              <a:cs typeface="Arial"/>
              <a:sym typeface="Arial"/>
            </a:endParaRPr>
          </a:p>
        </p:txBody>
      </p:sp>
      <p:sp>
        <p:nvSpPr>
          <p:cNvPr id="107" name="Google Shape;107;p1" descr="TextBox 21"/>
          <p:cNvSpPr txBox="1"/>
          <p:nvPr/>
        </p:nvSpPr>
        <p:spPr>
          <a:xfrm>
            <a:off x="425360" y="6136371"/>
            <a:ext cx="9683840" cy="3785611"/>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000000"/>
              </a:buClr>
              <a:buSzPts val="4400"/>
              <a:buFont typeface="Arial"/>
              <a:buNone/>
            </a:pPr>
            <a:r>
              <a:rPr lang="en-US" sz="4800" b="1" i="0" u="none" strike="noStrike" cap="none" dirty="0">
                <a:solidFill>
                  <a:srgbClr val="000000"/>
                </a:solidFill>
                <a:latin typeface="Arial"/>
                <a:ea typeface="Arial"/>
                <a:cs typeface="Arial"/>
                <a:sym typeface="Arial"/>
              </a:rPr>
              <a:t>Aimee Harrison</a:t>
            </a:r>
            <a:r>
              <a:rPr lang="en-US" sz="4800" b="1" i="0" u="none" strike="noStrike" cap="none" baseline="30000" dirty="0">
                <a:solidFill>
                  <a:srgbClr val="000000"/>
                </a:solidFill>
                <a:latin typeface="Arial"/>
                <a:ea typeface="Arial"/>
                <a:cs typeface="Arial"/>
                <a:sym typeface="Arial"/>
              </a:rPr>
              <a:t>1</a:t>
            </a:r>
            <a:r>
              <a:rPr lang="en-US" sz="4800" b="0" i="0" u="none" strike="noStrike" cap="none" dirty="0">
                <a:solidFill>
                  <a:srgbClr val="000000"/>
                </a:solidFill>
                <a:latin typeface="Arial"/>
                <a:ea typeface="Arial"/>
                <a:cs typeface="Arial"/>
                <a:sym typeface="Arial"/>
              </a:rPr>
              <a:t>, Lexi Pasi</a:t>
            </a:r>
            <a:r>
              <a:rPr lang="en-US" sz="4800" b="0" i="0" u="none" strike="noStrike" cap="none" baseline="30000" dirty="0">
                <a:solidFill>
                  <a:srgbClr val="000000"/>
                </a:solidFill>
                <a:latin typeface="Arial"/>
                <a:ea typeface="Arial"/>
                <a:cs typeface="Arial"/>
                <a:sym typeface="Arial"/>
              </a:rPr>
              <a:t>2</a:t>
            </a:r>
            <a:r>
              <a:rPr lang="en-US" sz="4800" b="0" i="0" u="none" strike="noStrike" cap="none" dirty="0">
                <a:solidFill>
                  <a:srgbClr val="000000"/>
                </a:solidFill>
                <a:latin typeface="Arial"/>
                <a:ea typeface="Arial"/>
                <a:cs typeface="Arial"/>
                <a:sym typeface="Arial"/>
              </a:rPr>
              <a:t>, Justin Ross</a:t>
            </a:r>
            <a:r>
              <a:rPr lang="en-US" sz="4800" b="0" i="0" u="none" strike="noStrike" cap="none" baseline="30000" dirty="0">
                <a:solidFill>
                  <a:srgbClr val="000000"/>
                </a:solidFill>
                <a:latin typeface="Arial"/>
                <a:ea typeface="Arial"/>
                <a:cs typeface="Arial"/>
                <a:sym typeface="Arial"/>
              </a:rPr>
              <a:t>3</a:t>
            </a:r>
            <a:r>
              <a:rPr lang="en-US" sz="4800" b="0" i="0" u="none" strike="noStrike" cap="none" dirty="0">
                <a:solidFill>
                  <a:srgbClr val="000000"/>
                </a:solidFill>
                <a:latin typeface="Arial"/>
                <a:ea typeface="Arial"/>
                <a:cs typeface="Arial"/>
                <a:sym typeface="Arial"/>
              </a:rPr>
              <a:t>, Jenny Alderden</a:t>
            </a:r>
            <a:r>
              <a:rPr lang="en-US" sz="4800" b="0" i="0" u="none" strike="noStrike" cap="none" baseline="30000" dirty="0">
                <a:solidFill>
                  <a:srgbClr val="000000"/>
                </a:solidFill>
                <a:latin typeface="Arial"/>
                <a:ea typeface="Arial"/>
                <a:cs typeface="Arial"/>
                <a:sym typeface="Arial"/>
              </a:rPr>
              <a:t>4</a:t>
            </a:r>
            <a:r>
              <a:rPr lang="en-US" sz="4800" b="0" i="0" u="none" strike="noStrike" cap="none" dirty="0">
                <a:solidFill>
                  <a:srgbClr val="000000"/>
                </a:solidFill>
                <a:latin typeface="Arial"/>
                <a:ea typeface="Arial"/>
                <a:cs typeface="Arial"/>
                <a:sym typeface="Arial"/>
              </a:rPr>
              <a:t>, </a:t>
            </a:r>
            <a:r>
              <a:rPr lang="en-US" sz="4800" b="0" i="0" u="none" strike="noStrike" cap="none" dirty="0">
                <a:solidFill>
                  <a:schemeClr val="bg2"/>
                </a:solidFill>
                <a:latin typeface="Arial"/>
                <a:ea typeface="Arial"/>
                <a:cs typeface="Arial"/>
                <a:sym typeface="Arial"/>
              </a:rPr>
              <a:t>Andy Wilson</a:t>
            </a:r>
            <a:r>
              <a:rPr lang="en-US" sz="4800" b="0" i="0" u="none" strike="noStrike" cap="none" baseline="30000" dirty="0">
                <a:solidFill>
                  <a:srgbClr val="000000"/>
                </a:solidFill>
                <a:latin typeface="Arial"/>
                <a:ea typeface="Arial"/>
                <a:cs typeface="Arial"/>
                <a:sym typeface="Arial"/>
              </a:rPr>
              <a:t>3*</a:t>
            </a:r>
          </a:p>
          <a:p>
            <a:pPr marL="0" marR="0" lvl="0" indent="0" algn="l" rtl="0">
              <a:lnSpc>
                <a:spcPct val="100000"/>
              </a:lnSpc>
              <a:spcBef>
                <a:spcPts val="0"/>
              </a:spcBef>
              <a:spcAft>
                <a:spcPts val="0"/>
              </a:spcAft>
              <a:buClr>
                <a:srgbClr val="000000"/>
              </a:buClr>
              <a:buSzPts val="4400"/>
              <a:buFont typeface="Arial"/>
              <a:buNone/>
            </a:pPr>
            <a:endParaRPr lang="en-US" sz="4800" b="0" i="0" u="none" strike="noStrike" cap="none" dirty="0">
              <a:solidFill>
                <a:schemeClr val="bg2"/>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4400"/>
              <a:buFont typeface="Arial"/>
              <a:buNone/>
            </a:pPr>
            <a:r>
              <a:rPr lang="en-US" sz="4400" dirty="0">
                <a:solidFill>
                  <a:schemeClr val="bg2"/>
                </a:solidFill>
              </a:rPr>
              <a:t>*Presenter</a:t>
            </a:r>
            <a:endParaRPr b="0" i="0" u="none" strike="noStrike" cap="none" dirty="0">
              <a:solidFill>
                <a:schemeClr val="bg2"/>
              </a:solidFill>
              <a:latin typeface="Arial"/>
              <a:ea typeface="Arial"/>
              <a:cs typeface="Arial"/>
              <a:sym typeface="Arial"/>
            </a:endParaRPr>
          </a:p>
        </p:txBody>
      </p:sp>
      <p:sp>
        <p:nvSpPr>
          <p:cNvPr id="109" name="Google Shape;109;p1" descr="Graphic 7"/>
          <p:cNvSpPr/>
          <p:nvPr/>
        </p:nvSpPr>
        <p:spPr>
          <a:xfrm>
            <a:off x="17563281" y="28835844"/>
            <a:ext cx="1284288" cy="2173287"/>
          </a:xfrm>
          <a:custGeom>
            <a:avLst/>
            <a:gdLst/>
            <a:ahLst/>
            <a:cxnLst/>
            <a:rect l="l" t="t" r="r" b="b"/>
            <a:pathLst>
              <a:path w="21600" h="21600" extrusionOk="0">
                <a:moveTo>
                  <a:pt x="3248" y="0"/>
                </a:moveTo>
                <a:cubicBezTo>
                  <a:pt x="1462" y="0"/>
                  <a:pt x="0" y="864"/>
                  <a:pt x="0" y="1920"/>
                </a:cubicBezTo>
                <a:lnTo>
                  <a:pt x="0" y="19680"/>
                </a:lnTo>
                <a:cubicBezTo>
                  <a:pt x="0" y="20736"/>
                  <a:pt x="1462" y="21600"/>
                  <a:pt x="3248" y="21600"/>
                </a:cubicBezTo>
                <a:lnTo>
                  <a:pt x="18352" y="21600"/>
                </a:lnTo>
                <a:cubicBezTo>
                  <a:pt x="20138" y="21600"/>
                  <a:pt x="21600" y="20736"/>
                  <a:pt x="21600" y="19680"/>
                </a:cubicBezTo>
                <a:lnTo>
                  <a:pt x="21600" y="1920"/>
                </a:lnTo>
                <a:cubicBezTo>
                  <a:pt x="21600" y="864"/>
                  <a:pt x="20138" y="0"/>
                  <a:pt x="18352" y="0"/>
                </a:cubicBezTo>
                <a:lnTo>
                  <a:pt x="3248" y="0"/>
                </a:lnTo>
                <a:close/>
                <a:moveTo>
                  <a:pt x="8990" y="1849"/>
                </a:moveTo>
                <a:lnTo>
                  <a:pt x="12611" y="1849"/>
                </a:lnTo>
                <a:cubicBezTo>
                  <a:pt x="12849" y="1849"/>
                  <a:pt x="13042" y="2010"/>
                  <a:pt x="13042" y="2209"/>
                </a:cubicBezTo>
                <a:cubicBezTo>
                  <a:pt x="13042" y="2408"/>
                  <a:pt x="12849" y="2569"/>
                  <a:pt x="12611" y="2569"/>
                </a:cubicBezTo>
                <a:lnTo>
                  <a:pt x="8990" y="2569"/>
                </a:lnTo>
                <a:cubicBezTo>
                  <a:pt x="8752" y="2569"/>
                  <a:pt x="8559" y="2408"/>
                  <a:pt x="8559" y="2209"/>
                </a:cubicBezTo>
                <a:cubicBezTo>
                  <a:pt x="8559" y="2010"/>
                  <a:pt x="8752" y="1849"/>
                  <a:pt x="8990" y="1849"/>
                </a:cubicBezTo>
                <a:close/>
                <a:moveTo>
                  <a:pt x="1784" y="4416"/>
                </a:moveTo>
                <a:lnTo>
                  <a:pt x="19816" y="4416"/>
                </a:lnTo>
                <a:lnTo>
                  <a:pt x="19816" y="17184"/>
                </a:lnTo>
                <a:lnTo>
                  <a:pt x="1784" y="17184"/>
                </a:lnTo>
                <a:lnTo>
                  <a:pt x="1784" y="4416"/>
                </a:lnTo>
                <a:close/>
                <a:moveTo>
                  <a:pt x="10800" y="18203"/>
                </a:moveTo>
                <a:cubicBezTo>
                  <a:pt x="10800" y="18203"/>
                  <a:pt x="10800" y="18203"/>
                  <a:pt x="10800" y="18203"/>
                </a:cubicBezTo>
                <a:cubicBezTo>
                  <a:pt x="11911" y="18203"/>
                  <a:pt x="12811" y="18736"/>
                  <a:pt x="12811" y="19392"/>
                </a:cubicBezTo>
                <a:cubicBezTo>
                  <a:pt x="12811" y="19392"/>
                  <a:pt x="12811" y="19392"/>
                  <a:pt x="12811" y="19392"/>
                </a:cubicBezTo>
                <a:cubicBezTo>
                  <a:pt x="12811" y="19392"/>
                  <a:pt x="12811" y="19392"/>
                  <a:pt x="12811" y="19392"/>
                </a:cubicBezTo>
                <a:cubicBezTo>
                  <a:pt x="12811" y="20049"/>
                  <a:pt x="11911" y="20581"/>
                  <a:pt x="10800" y="20581"/>
                </a:cubicBezTo>
                <a:cubicBezTo>
                  <a:pt x="10800" y="20581"/>
                  <a:pt x="10800" y="20581"/>
                  <a:pt x="10800" y="20581"/>
                </a:cubicBezTo>
                <a:cubicBezTo>
                  <a:pt x="10800" y="20581"/>
                  <a:pt x="10800" y="20581"/>
                  <a:pt x="10800" y="20581"/>
                </a:cubicBezTo>
                <a:cubicBezTo>
                  <a:pt x="9690" y="20581"/>
                  <a:pt x="8789" y="20049"/>
                  <a:pt x="8789" y="19392"/>
                </a:cubicBezTo>
                <a:cubicBezTo>
                  <a:pt x="8789" y="19392"/>
                  <a:pt x="8789" y="19392"/>
                  <a:pt x="8789" y="19392"/>
                </a:cubicBezTo>
                <a:cubicBezTo>
                  <a:pt x="8789" y="19392"/>
                  <a:pt x="8789" y="19392"/>
                  <a:pt x="8789" y="19392"/>
                </a:cubicBezTo>
                <a:cubicBezTo>
                  <a:pt x="8789" y="18736"/>
                  <a:pt x="9690" y="18203"/>
                  <a:pt x="10800" y="18203"/>
                </a:cubicBezTo>
                <a:cubicBezTo>
                  <a:pt x="10800" y="18203"/>
                  <a:pt x="10800" y="18203"/>
                  <a:pt x="10800" y="18203"/>
                </a:cubicBezTo>
                <a:close/>
              </a:path>
            </a:pathLst>
          </a:custGeom>
          <a:solidFill>
            <a:schemeClr val="tx2">
              <a:lumMod val="50000"/>
            </a:schemeClr>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7258"/>
              <a:buFont typeface="Arial"/>
              <a:buNone/>
            </a:pPr>
            <a:endParaRPr sz="7258" b="0" i="0" u="none" strike="noStrike" cap="none">
              <a:solidFill>
                <a:srgbClr val="D9D9D9"/>
              </a:solidFill>
              <a:latin typeface="Calibri"/>
              <a:ea typeface="Calibri"/>
              <a:cs typeface="Calibri"/>
              <a:sym typeface="Calibri"/>
            </a:endParaRPr>
          </a:p>
        </p:txBody>
      </p:sp>
      <p:cxnSp>
        <p:nvCxnSpPr>
          <p:cNvPr id="111" name="Google Shape;111;p1" descr="Straight Arrow Connector 23"/>
          <p:cNvCxnSpPr/>
          <p:nvPr/>
        </p:nvCxnSpPr>
        <p:spPr>
          <a:xfrm rot="10800000">
            <a:off x="16169456" y="29842319"/>
            <a:ext cx="1296988" cy="0"/>
          </a:xfrm>
          <a:prstGeom prst="straightConnector1">
            <a:avLst/>
          </a:prstGeom>
          <a:noFill/>
          <a:ln w="66675" cap="flat" cmpd="sng">
            <a:solidFill>
              <a:schemeClr val="bg2"/>
            </a:solidFill>
            <a:prstDash val="dot"/>
            <a:round/>
            <a:headEnd type="none" w="sm" len="sm"/>
            <a:tailEnd type="triangle" w="med" len="med"/>
          </a:ln>
        </p:spPr>
      </p:cxnSp>
      <p:sp>
        <p:nvSpPr>
          <p:cNvPr id="114" name="Google Shape;114;p1"/>
          <p:cNvSpPr/>
          <p:nvPr/>
        </p:nvSpPr>
        <p:spPr>
          <a:xfrm>
            <a:off x="11855064" y="27849276"/>
            <a:ext cx="3938137" cy="3938137"/>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258"/>
              <a:buFont typeface="Arial"/>
              <a:buNone/>
            </a:pPr>
            <a:endParaRPr sz="7258" b="0" i="0" u="none" strike="noStrike" cap="none">
              <a:solidFill>
                <a:schemeClr val="lt1"/>
              </a:solidFill>
              <a:latin typeface="Calibri"/>
              <a:ea typeface="Calibri"/>
              <a:cs typeface="Calibri"/>
              <a:sym typeface="Calibri"/>
            </a:endParaRPr>
          </a:p>
        </p:txBody>
      </p:sp>
      <p:sp>
        <p:nvSpPr>
          <p:cNvPr id="115" name="Google Shape;115;p1"/>
          <p:cNvSpPr txBox="1"/>
          <p:nvPr/>
        </p:nvSpPr>
        <p:spPr>
          <a:xfrm>
            <a:off x="12161829" y="28934269"/>
            <a:ext cx="3322029"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0" i="0" u="none" strike="noStrike" cap="none">
                <a:solidFill>
                  <a:schemeClr val="dk1"/>
                </a:solidFill>
                <a:latin typeface="Arial"/>
                <a:ea typeface="Arial"/>
                <a:cs typeface="Arial"/>
                <a:sym typeface="Arial"/>
              </a:rPr>
              <a:t>QR Code</a:t>
            </a:r>
            <a:endParaRPr sz="1400" b="0" i="0" u="none" strike="noStrike" cap="none">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78F56ADA-ABA9-65A2-EEF6-BEB3A74D652A}"/>
              </a:ext>
            </a:extLst>
          </p:cNvPr>
          <p:cNvPicPr>
            <a:picLocks noChangeAspect="1"/>
          </p:cNvPicPr>
          <p:nvPr/>
        </p:nvPicPr>
        <p:blipFill>
          <a:blip r:embed="rId3"/>
          <a:stretch>
            <a:fillRect/>
          </a:stretch>
        </p:blipFill>
        <p:spPr>
          <a:xfrm>
            <a:off x="10972800" y="7250319"/>
            <a:ext cx="23180891" cy="19935198"/>
          </a:xfrm>
          <a:prstGeom prst="rect">
            <a:avLst/>
          </a:prstGeom>
        </p:spPr>
      </p:pic>
      <p:pic>
        <p:nvPicPr>
          <p:cNvPr id="5" name="Picture 4">
            <a:extLst>
              <a:ext uri="{FF2B5EF4-FFF2-40B4-BE49-F238E27FC236}">
                <a16:creationId xmlns:a16="http://schemas.microsoft.com/office/drawing/2014/main" id="{493B6D9C-AA0B-A37C-7736-33C95017795C}"/>
              </a:ext>
            </a:extLst>
          </p:cNvPr>
          <p:cNvPicPr>
            <a:picLocks noChangeAspect="1"/>
          </p:cNvPicPr>
          <p:nvPr/>
        </p:nvPicPr>
        <p:blipFill>
          <a:blip r:embed="rId4"/>
          <a:stretch>
            <a:fillRect/>
          </a:stretch>
        </p:blipFill>
        <p:spPr>
          <a:xfrm>
            <a:off x="35197110" y="26785850"/>
            <a:ext cx="2746954" cy="2746954"/>
          </a:xfrm>
          <a:prstGeom prst="rect">
            <a:avLst/>
          </a:prstGeom>
        </p:spPr>
      </p:pic>
      <p:pic>
        <p:nvPicPr>
          <p:cNvPr id="7" name="Picture 6">
            <a:extLst>
              <a:ext uri="{FF2B5EF4-FFF2-40B4-BE49-F238E27FC236}">
                <a16:creationId xmlns:a16="http://schemas.microsoft.com/office/drawing/2014/main" id="{AF6A4E7C-BFA2-CDA5-03A0-E4A75F16E6B2}"/>
              </a:ext>
            </a:extLst>
          </p:cNvPr>
          <p:cNvPicPr>
            <a:picLocks noChangeAspect="1"/>
          </p:cNvPicPr>
          <p:nvPr/>
        </p:nvPicPr>
        <p:blipFill>
          <a:blip r:embed="rId5"/>
          <a:stretch>
            <a:fillRect/>
          </a:stretch>
        </p:blipFill>
        <p:spPr>
          <a:xfrm>
            <a:off x="40268540" y="27030042"/>
            <a:ext cx="2441697" cy="2258569"/>
          </a:xfrm>
          <a:prstGeom prst="rect">
            <a:avLst/>
          </a:prstGeom>
        </p:spPr>
      </p:pic>
      <p:pic>
        <p:nvPicPr>
          <p:cNvPr id="11" name="Picture 10">
            <a:extLst>
              <a:ext uri="{FF2B5EF4-FFF2-40B4-BE49-F238E27FC236}">
                <a16:creationId xmlns:a16="http://schemas.microsoft.com/office/drawing/2014/main" id="{FC0577E7-B18E-2206-4007-691B14228D68}"/>
              </a:ext>
            </a:extLst>
          </p:cNvPr>
          <p:cNvPicPr>
            <a:picLocks noChangeAspect="1"/>
          </p:cNvPicPr>
          <p:nvPr/>
        </p:nvPicPr>
        <p:blipFill>
          <a:blip r:embed="rId6"/>
          <a:stretch>
            <a:fillRect/>
          </a:stretch>
        </p:blipFill>
        <p:spPr>
          <a:xfrm>
            <a:off x="11855064" y="27849276"/>
            <a:ext cx="4076698" cy="4076698"/>
          </a:xfrm>
          <a:prstGeom prst="rect">
            <a:avLst/>
          </a:prstGeom>
        </p:spPr>
      </p:pic>
      <p:pic>
        <p:nvPicPr>
          <p:cNvPr id="13" name="Picture 12">
            <a:extLst>
              <a:ext uri="{FF2B5EF4-FFF2-40B4-BE49-F238E27FC236}">
                <a16:creationId xmlns:a16="http://schemas.microsoft.com/office/drawing/2014/main" id="{564ECF6F-67BA-2C46-F3A8-9D80B2962B0D}"/>
              </a:ext>
            </a:extLst>
          </p:cNvPr>
          <p:cNvPicPr>
            <a:picLocks noChangeAspect="1"/>
          </p:cNvPicPr>
          <p:nvPr/>
        </p:nvPicPr>
        <p:blipFill>
          <a:blip r:embed="rId7"/>
          <a:stretch>
            <a:fillRect/>
          </a:stretch>
        </p:blipFill>
        <p:spPr>
          <a:xfrm>
            <a:off x="692381" y="26592579"/>
            <a:ext cx="8738496" cy="2789596"/>
          </a:xfrm>
          <a:prstGeom prst="rect">
            <a:avLst/>
          </a:prstGeom>
        </p:spPr>
      </p:pic>
      <p:pic>
        <p:nvPicPr>
          <p:cNvPr id="15" name="Picture 14">
            <a:extLst>
              <a:ext uri="{FF2B5EF4-FFF2-40B4-BE49-F238E27FC236}">
                <a16:creationId xmlns:a16="http://schemas.microsoft.com/office/drawing/2014/main" id="{A5F7E60B-2B8D-CC1C-9DD6-1A422FFC7380}"/>
              </a:ext>
            </a:extLst>
          </p:cNvPr>
          <p:cNvPicPr>
            <a:picLocks noChangeAspect="1"/>
          </p:cNvPicPr>
          <p:nvPr/>
        </p:nvPicPr>
        <p:blipFill>
          <a:blip r:embed="rId8"/>
          <a:stretch>
            <a:fillRect/>
          </a:stretch>
        </p:blipFill>
        <p:spPr>
          <a:xfrm>
            <a:off x="636589" y="29771200"/>
            <a:ext cx="8801579" cy="2700485"/>
          </a:xfrm>
          <a:prstGeom prst="rect">
            <a:avLst/>
          </a:prstGeom>
        </p:spPr>
      </p:pic>
      <p:pic>
        <p:nvPicPr>
          <p:cNvPr id="17" name="Picture 16">
            <a:extLst>
              <a:ext uri="{FF2B5EF4-FFF2-40B4-BE49-F238E27FC236}">
                <a16:creationId xmlns:a16="http://schemas.microsoft.com/office/drawing/2014/main" id="{301359B4-EAF4-33F1-3875-7CCE8DB230B5}"/>
              </a:ext>
            </a:extLst>
          </p:cNvPr>
          <p:cNvPicPr>
            <a:picLocks noChangeAspect="1"/>
          </p:cNvPicPr>
          <p:nvPr/>
        </p:nvPicPr>
        <p:blipFill>
          <a:blip r:embed="rId9"/>
          <a:stretch>
            <a:fillRect/>
          </a:stretch>
        </p:blipFill>
        <p:spPr>
          <a:xfrm>
            <a:off x="34520895" y="137507"/>
            <a:ext cx="9370306" cy="7256466"/>
          </a:xfrm>
          <a:prstGeom prst="rect">
            <a:avLst/>
          </a:prstGeom>
        </p:spPr>
      </p:pic>
      <p:pic>
        <p:nvPicPr>
          <p:cNvPr id="19" name="Picture 18">
            <a:extLst>
              <a:ext uri="{FF2B5EF4-FFF2-40B4-BE49-F238E27FC236}">
                <a16:creationId xmlns:a16="http://schemas.microsoft.com/office/drawing/2014/main" id="{FAD4E910-4217-E91B-2236-EDE1958E0885}"/>
              </a:ext>
            </a:extLst>
          </p:cNvPr>
          <p:cNvPicPr>
            <a:picLocks noChangeAspect="1"/>
          </p:cNvPicPr>
          <p:nvPr/>
        </p:nvPicPr>
        <p:blipFill>
          <a:blip r:embed="rId10"/>
          <a:stretch>
            <a:fillRect/>
          </a:stretch>
        </p:blipFill>
        <p:spPr>
          <a:xfrm>
            <a:off x="34553712" y="12868735"/>
            <a:ext cx="9027790" cy="3400494"/>
          </a:xfrm>
          <a:prstGeom prst="rect">
            <a:avLst/>
          </a:prstGeom>
        </p:spPr>
      </p:pic>
      <p:sp>
        <p:nvSpPr>
          <p:cNvPr id="21" name="TextBox 20">
            <a:extLst>
              <a:ext uri="{FF2B5EF4-FFF2-40B4-BE49-F238E27FC236}">
                <a16:creationId xmlns:a16="http://schemas.microsoft.com/office/drawing/2014/main" id="{0817FAFC-E220-71FB-76F0-2C359A5BAC9F}"/>
              </a:ext>
            </a:extLst>
          </p:cNvPr>
          <p:cNvSpPr txBox="1"/>
          <p:nvPr/>
        </p:nvSpPr>
        <p:spPr>
          <a:xfrm>
            <a:off x="34785508" y="7503079"/>
            <a:ext cx="8746783" cy="5632311"/>
          </a:xfrm>
          <a:prstGeom prst="rect">
            <a:avLst/>
          </a:prstGeom>
          <a:noFill/>
        </p:spPr>
        <p:txBody>
          <a:bodyPr wrap="square">
            <a:spAutoFit/>
          </a:bodyPr>
          <a:lstStyle/>
          <a:p>
            <a:r>
              <a:rPr lang="en-US" sz="4000" b="0" i="0" dirty="0">
                <a:solidFill>
                  <a:srgbClr val="4A5568"/>
                </a:solidFill>
                <a:effectLst/>
                <a:latin typeface="+mn-lt"/>
              </a:rPr>
              <a:t>Causal SHAP is not an automated pipeline. It’s a disciplined collaboration: the discovery algorithm proposes, the expert disposes, and the attribution is grounded in a DAG that both parties can defend. The app (Python Shiny) threads these five steps into a single interactive environment.</a:t>
            </a:r>
            <a:endParaRPr lang="en-US" sz="4000" dirty="0">
              <a:latin typeface="+mn-lt"/>
            </a:endParaRPr>
          </a:p>
        </p:txBody>
      </p:sp>
      <p:sp>
        <p:nvSpPr>
          <p:cNvPr id="23" name="TextBox 22">
            <a:extLst>
              <a:ext uri="{FF2B5EF4-FFF2-40B4-BE49-F238E27FC236}">
                <a16:creationId xmlns:a16="http://schemas.microsoft.com/office/drawing/2014/main" id="{B655D87C-E5C0-8516-339A-DDB924B91060}"/>
              </a:ext>
            </a:extLst>
          </p:cNvPr>
          <p:cNvSpPr txBox="1"/>
          <p:nvPr/>
        </p:nvSpPr>
        <p:spPr>
          <a:xfrm>
            <a:off x="34907766" y="17270810"/>
            <a:ext cx="9027790" cy="5509200"/>
          </a:xfrm>
          <a:prstGeom prst="rect">
            <a:avLst/>
          </a:prstGeom>
          <a:noFill/>
        </p:spPr>
        <p:txBody>
          <a:bodyPr wrap="square">
            <a:spAutoFit/>
          </a:bodyPr>
          <a:lstStyle/>
          <a:p>
            <a:r>
              <a:rPr lang="en-US" sz="4400" b="0" i="0" dirty="0">
                <a:solidFill>
                  <a:schemeClr val="accent2">
                    <a:lumMod val="75000"/>
                  </a:schemeClr>
                </a:solidFill>
                <a:effectLst/>
                <a:latin typeface="+mn-lt"/>
              </a:rPr>
              <a:t>No existing tool formalizes this iterative expert-in-the-loop refinement from CPDAG to resolved DAG to causal attribution. </a:t>
            </a:r>
            <a:r>
              <a:rPr lang="en-US" sz="4400" b="0" i="0" dirty="0">
                <a:solidFill>
                  <a:schemeClr val="bg2"/>
                </a:solidFill>
                <a:effectLst/>
                <a:latin typeface="+mn-lt"/>
              </a:rPr>
              <a:t>The value isn’t any single step </a:t>
            </a:r>
            <a:r>
              <a:rPr lang="en-US" sz="4400" b="0" i="0" dirty="0">
                <a:solidFill>
                  <a:schemeClr val="bg2"/>
                </a:solidFill>
                <a:effectLst/>
                <a:latin typeface="+mn-lt"/>
                <a:sym typeface="Wingdings" panose="05000000000000000000" pitchFamily="2" charset="2"/>
              </a:rPr>
              <a:t></a:t>
            </a:r>
            <a:r>
              <a:rPr lang="en-US" sz="4400" b="0" i="0" dirty="0">
                <a:solidFill>
                  <a:schemeClr val="bg2"/>
                </a:solidFill>
                <a:effectLst/>
                <a:latin typeface="+mn-lt"/>
              </a:rPr>
              <a:t> it’s the cycle, with immediate visual feedback on how DAG edits change the attributions.</a:t>
            </a:r>
            <a:endParaRPr lang="en-US" sz="4400" dirty="0">
              <a:solidFill>
                <a:schemeClr val="bg2"/>
              </a:solidFill>
              <a:latin typeface="+mn-lt"/>
            </a:endParaRPr>
          </a:p>
        </p:txBody>
      </p:sp>
      <p:sp>
        <p:nvSpPr>
          <p:cNvPr id="2" name="Google Shape;107;p1" descr="TextBox 21">
            <a:extLst>
              <a:ext uri="{FF2B5EF4-FFF2-40B4-BE49-F238E27FC236}">
                <a16:creationId xmlns:a16="http://schemas.microsoft.com/office/drawing/2014/main" id="{E1F4B960-2BAE-FC5C-4F4B-8158EA50798D}"/>
              </a:ext>
            </a:extLst>
          </p:cNvPr>
          <p:cNvSpPr txBox="1"/>
          <p:nvPr/>
        </p:nvSpPr>
        <p:spPr>
          <a:xfrm>
            <a:off x="25741478" y="28096928"/>
            <a:ext cx="7641770" cy="3416279"/>
          </a:xfrm>
          <a:prstGeom prst="rect">
            <a:avLst/>
          </a:prstGeom>
          <a:noFill/>
          <a:ln>
            <a:noFill/>
          </a:ln>
        </p:spPr>
        <p:txBody>
          <a:bodyPr spcFirstLastPara="1" wrap="square" lIns="45700" tIns="45700" rIns="45700" bIns="45700" anchor="t" anchorCtr="0">
            <a:spAutoFit/>
          </a:bodyPr>
          <a:lstStyle/>
          <a:p>
            <a:pPr marL="0" marR="0" lvl="0" indent="0" algn="r" rtl="0">
              <a:lnSpc>
                <a:spcPct val="100000"/>
              </a:lnSpc>
              <a:spcBef>
                <a:spcPts val="0"/>
              </a:spcBef>
              <a:spcAft>
                <a:spcPts val="0"/>
              </a:spcAft>
              <a:buClr>
                <a:srgbClr val="000000"/>
              </a:buClr>
              <a:buSzPts val="4400"/>
              <a:buFont typeface="Arial"/>
              <a:buNone/>
            </a:pPr>
            <a:r>
              <a:rPr lang="en-US" sz="5400" baseline="30000" dirty="0"/>
              <a:t>1</a:t>
            </a:r>
            <a:r>
              <a:rPr lang="en-US" sz="5400" dirty="0"/>
              <a:t>Navidence, </a:t>
            </a:r>
          </a:p>
          <a:p>
            <a:pPr marL="0" marR="0" lvl="0" indent="0" algn="r" rtl="0">
              <a:lnSpc>
                <a:spcPct val="100000"/>
              </a:lnSpc>
              <a:spcBef>
                <a:spcPts val="0"/>
              </a:spcBef>
              <a:spcAft>
                <a:spcPts val="0"/>
              </a:spcAft>
              <a:buClr>
                <a:srgbClr val="000000"/>
              </a:buClr>
              <a:buSzPts val="4400"/>
              <a:buFont typeface="Arial"/>
              <a:buNone/>
            </a:pPr>
            <a:r>
              <a:rPr lang="en-US" sz="5400" baseline="30000" dirty="0"/>
              <a:t>2</a:t>
            </a:r>
            <a:r>
              <a:rPr lang="en-US" sz="5400" dirty="0"/>
              <a:t>Lucidity Sciences, </a:t>
            </a:r>
          </a:p>
          <a:p>
            <a:pPr marL="0" marR="0" lvl="0" indent="0" algn="r" rtl="0">
              <a:lnSpc>
                <a:spcPct val="100000"/>
              </a:lnSpc>
              <a:spcBef>
                <a:spcPts val="0"/>
              </a:spcBef>
              <a:spcAft>
                <a:spcPts val="0"/>
              </a:spcAft>
              <a:buClr>
                <a:srgbClr val="000000"/>
              </a:buClr>
              <a:buSzPts val="4400"/>
              <a:buFont typeface="Arial"/>
              <a:buNone/>
            </a:pPr>
            <a:r>
              <a:rPr lang="en-US" sz="5400" baseline="30000" dirty="0"/>
              <a:t>3</a:t>
            </a:r>
            <a:r>
              <a:rPr lang="en-US" sz="5400" dirty="0"/>
              <a:t>University of Utah, </a:t>
            </a:r>
          </a:p>
          <a:p>
            <a:pPr marL="0" marR="0" lvl="0" indent="0" algn="r" rtl="0">
              <a:lnSpc>
                <a:spcPct val="100000"/>
              </a:lnSpc>
              <a:spcBef>
                <a:spcPts val="0"/>
              </a:spcBef>
              <a:spcAft>
                <a:spcPts val="0"/>
              </a:spcAft>
              <a:buClr>
                <a:srgbClr val="000000"/>
              </a:buClr>
              <a:buSzPts val="4400"/>
              <a:buFont typeface="Arial"/>
              <a:buNone/>
            </a:pPr>
            <a:r>
              <a:rPr lang="en-US" sz="5400" baseline="30000" dirty="0"/>
              <a:t>4</a:t>
            </a:r>
            <a:r>
              <a:rPr lang="en-US" sz="5400" dirty="0"/>
              <a:t>Boise State University</a:t>
            </a:r>
            <a:endParaRPr sz="5400" dirty="0"/>
          </a:p>
        </p:txBody>
      </p:sp>
      <p:pic>
        <p:nvPicPr>
          <p:cNvPr id="6" name="Picture 5">
            <a:extLst>
              <a:ext uri="{FF2B5EF4-FFF2-40B4-BE49-F238E27FC236}">
                <a16:creationId xmlns:a16="http://schemas.microsoft.com/office/drawing/2014/main" id="{743FFC08-B579-F8FC-CE80-CB47F12D63D3}"/>
              </a:ext>
            </a:extLst>
          </p:cNvPr>
          <p:cNvPicPr>
            <a:picLocks noChangeAspect="1"/>
          </p:cNvPicPr>
          <p:nvPr/>
        </p:nvPicPr>
        <p:blipFill>
          <a:blip r:embed="rId11"/>
          <a:stretch>
            <a:fillRect/>
          </a:stretch>
        </p:blipFill>
        <p:spPr>
          <a:xfrm>
            <a:off x="35810998" y="24269724"/>
            <a:ext cx="7273633" cy="229119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TotalTime>
  <Words>465</Words>
  <Application>Microsoft Office PowerPoint</Application>
  <PresentationFormat>Custom</PresentationFormat>
  <Paragraphs>26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Helvetica Neue</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andrew wilson</dc:creator>
  <cp:lastModifiedBy>andrew wilson</cp:lastModifiedBy>
  <cp:revision>7</cp:revision>
  <dcterms:modified xsi:type="dcterms:W3CDTF">2026-05-07T01:21:34Z</dcterms:modified>
</cp:coreProperties>
</file>