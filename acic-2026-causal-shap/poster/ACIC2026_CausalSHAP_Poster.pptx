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8404800" cy="365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0" cy="36576000"/>
          </a:xfrm>
          <a:prstGeom prst="rect">
            <a:avLst/>
          </a:prstGeom>
          <a:solidFill>
            <a:srgbClr val="FFF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0" cy="365760"/>
          </a:xfrm>
          <a:prstGeom prst="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36941760" cy="50292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A0AEC0"/>
                </a:solidFill>
                <a:latin typeface="Arial"/>
              </a:rPr>
              <a:t>ACIC 2026  ·  POSTER SESSION 2  ·  SALT LAKE CITY, UT  ·  MAY 13,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6941760" cy="18288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1A202C"/>
                </a:solidFill>
                <a:latin typeface="Georgia"/>
              </a:rPr>
              <a:t>SHAP has short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36941760" cy="18288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0" b="1">
                <a:solidFill>
                  <a:srgbClr val="008080"/>
                </a:solidFill>
                <a:latin typeface="Georgia"/>
              </a:rPr>
              <a:t>Causal SHAP remembers the DAG.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36941760" cy="91440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4A5568"/>
                </a:solidFill>
                <a:latin typeface="Georgia"/>
              </a:rPr>
              <a:t>Expert-Augmented Causal SHAP: Recovering DAG-Consistent Feature Importance</a:t>
            </a:r>
          </a:p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4A5568"/>
                </a:solidFill>
                <a:latin typeface="Georgia"/>
              </a:rPr>
              <a:t>via Iterative Causal Discovery and Domain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36941760" cy="50292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1A202C"/>
                </a:solidFill>
                <a:latin typeface="Arial"/>
              </a:rPr>
              <a:t>Lexi Pasi¹   ·   Aimee Harrison²   ·   Justin Ross³   ·   Jenny Alderden⁴   ·   Andy Wilson³˙²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720840"/>
            <a:ext cx="369417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A0AEC0"/>
                </a:solidFill>
                <a:latin typeface="Arial"/>
              </a:rPr>
              <a:t>¹ Lucidity Sciences     ² Tao of RWD / Navidence     ³ University of Utah     ⁴ Boise State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7360920"/>
            <a:ext cx="36941760" cy="1828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5_artif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7589520"/>
            <a:ext cx="24510759" cy="2743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10607040"/>
            <a:ext cx="36941760" cy="1828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10881360"/>
            <a:ext cx="9326880" cy="457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0972800"/>
            <a:ext cx="932688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1612880"/>
            <a:ext cx="9326880" cy="65836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A202C"/>
                </a:solidFill>
                <a:latin typeface="Arial"/>
              </a:rPr>
              <a:t>SHAP is the dominant tool for explaining ML models in health research.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4A5568"/>
                </a:solidFill>
                <a:latin typeface="Arial"/>
              </a:rPr>
              <a:t>When features have causal structure, SHAP misattributes importance: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 i="0">
                <a:solidFill>
                  <a:srgbClr val="4A5568"/>
                </a:solidFill>
                <a:latin typeface="Arial"/>
              </a:rPr>
              <a:t>•  Mediators absorb credit from upstream causes (topological artifact)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800" b="0" i="0">
                <a:solidFill>
                  <a:srgbClr val="4A5568"/>
                </a:solidFill>
                <a:latin typeface="Arial"/>
              </a:rPr>
              <a:t>•  Downstream interventions appear as risk factors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800" b="0" i="0">
                <a:solidFill>
                  <a:srgbClr val="4A5568"/>
                </a:solidFill>
                <a:latin typeface="Arial"/>
              </a:rPr>
              <a:t>•  Colliders, when conditioned on, create spurious attributions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4A5568"/>
                </a:solidFill>
                <a:latin typeface="Arial"/>
              </a:rPr>
              <a:t>Causal Shapley values (Heskes 2020; Janzing 2020) correct this by computing attributions under interventional distributions — but require a known DAG.</a:t>
            </a:r>
          </a:p>
          <a:p>
            <a:pPr algn="l">
              <a:lnSpc>
                <a:spcPct val="115000"/>
              </a:lnSpc>
            </a:pPr>
            <a:r>
              <a:rPr sz="2000" b="1" i="1">
                <a:solidFill>
                  <a:srgbClr val="1A202C"/>
                </a:solidFill>
                <a:latin typeface="Arial"/>
              </a:rPr>
              <a:t>Fully automated causal discovery leaves edges ambiguous. Our fix: put the expert in the loop.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18470880"/>
            <a:ext cx="9326880" cy="45720"/>
          </a:xfrm>
          <a:prstGeom prst="rect">
            <a:avLst/>
          </a:prstGeom>
          <a:solidFill>
            <a:srgbClr val="783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8562320"/>
            <a:ext cx="932688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783C96"/>
                </a:solidFill>
                <a:latin typeface="Arial"/>
              </a:rPr>
              <a:t>THE WORKFLOW</a:t>
            </a:r>
          </a:p>
        </p:txBody>
      </p:sp>
      <p:pic>
        <p:nvPicPr>
          <p:cNvPr id="18" name="Picture 17" descr="fig4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531" y="19202400"/>
            <a:ext cx="8749252" cy="1828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21305520"/>
            <a:ext cx="9326880" cy="54864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A202C"/>
                </a:solidFill>
                <a:latin typeface="Arial"/>
              </a:rPr>
              <a:t>Two attribution approaches: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1.  DAG-constrained SHAP — restrict permutations to topological orderings (asymmetric Shapley; Frye et al. 2020)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2.  Adjustment-set SHAP — apply standard SHAP only to DAG-identified confounders (Shrier-Platt)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1A202C"/>
                </a:solidFill>
                <a:latin typeface="Arial"/>
              </a:rPr>
              <a:t>Python Shiny application supports: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•  Three discovery algorithms (PC, DirectLiNGAM, GES via causal-learn)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•  Hard-enforced required / forbidden edges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•  Immediate re-computation of SHAP as the DAG is edited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A5568"/>
                </a:solidFill>
                <a:latin typeface="Arial"/>
              </a:rPr>
              <a:t>•  Shrier-Platt adjustment-set export and dagitty.net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40" y="10881360"/>
            <a:ext cx="1719072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10972800"/>
            <a:ext cx="1719072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08080"/>
                </a:solidFill>
                <a:latin typeface="Arial"/>
              </a:rPr>
              <a:t>RESULTS · simcausal</a:t>
            </a:r>
          </a:p>
        </p:txBody>
      </p:sp>
      <p:pic>
        <p:nvPicPr>
          <p:cNvPr id="22" name="Picture 21" descr="fig1_shap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0" y="11704320"/>
            <a:ext cx="15893813" cy="91440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607040" y="21031200"/>
            <a:ext cx="554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07040" y="21031200"/>
            <a:ext cx="5547360" cy="109728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21305520"/>
            <a:ext cx="5547360" cy="10972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008080"/>
                </a:solidFill>
                <a:latin typeface="Georgia"/>
              </a:rPr>
              <a:t>τ = 0.42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22402800"/>
            <a:ext cx="5547360" cy="5486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A202C"/>
                </a:solidFill>
                <a:latin typeface="Arial"/>
              </a:rPr>
              <a:t>Kendall's 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22905720"/>
            <a:ext cx="55473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0AEC0"/>
                </a:solidFill>
                <a:latin typeface="Arial"/>
              </a:rPr>
              <a:t>Std vs Causal rankings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28719" y="21031200"/>
            <a:ext cx="554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28719" y="21031200"/>
            <a:ext cx="554736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28719" y="21305520"/>
            <a:ext cx="5547360" cy="10972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C0392B"/>
                </a:solidFill>
                <a:latin typeface="Georgia"/>
              </a:rPr>
              <a:t>0.80×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28719" y="22402800"/>
            <a:ext cx="5547360" cy="5486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A202C"/>
                </a:solidFill>
                <a:latin typeface="Arial"/>
              </a:rPr>
              <a:t>Mediator inflation ratio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28719" y="22905720"/>
            <a:ext cx="55473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0AEC0"/>
                </a:solidFill>
                <a:latin typeface="Arial"/>
              </a:rPr>
              <a:t>Causal / Standard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250400" y="21031200"/>
            <a:ext cx="5547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250400" y="21031200"/>
            <a:ext cx="5547360" cy="10972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250400" y="21305520"/>
            <a:ext cx="5547360" cy="1097280"/>
          </a:xfrm>
          <a:prstGeom prst="rect">
            <a:avLst/>
          </a:prstGeom>
          <a:noFill/>
        </p:spPr>
        <p:txBody>
          <a:bodyPr wrap="square" lIns="73152" rIns="73152" tIns="54864" bIns="5486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1">
                <a:solidFill>
                  <a:srgbClr val="6B7280"/>
                </a:solidFill>
                <a:latin typeface="Georgia"/>
              </a:rPr>
              <a:t>τ ≈ 0.5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250400" y="22402800"/>
            <a:ext cx="5547360" cy="5486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1A202C"/>
                </a:solidFill>
                <a:latin typeface="Arial"/>
              </a:rPr>
              <a:t>Both methods vs truth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250400" y="22905720"/>
            <a:ext cx="554736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A0AEC0"/>
                </a:solidFill>
                <a:latin typeface="Arial"/>
              </a:rPr>
              <a:t>at 500 permutations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07040" y="23774400"/>
            <a:ext cx="17190720" cy="457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0" y="23865840"/>
            <a:ext cx="1719072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A202C"/>
                </a:solidFill>
                <a:latin typeface="Arial"/>
              </a:rPr>
              <a:t>FEATURE RANK MOVEMENT</a:t>
            </a:r>
          </a:p>
        </p:txBody>
      </p:sp>
      <p:pic>
        <p:nvPicPr>
          <p:cNvPr id="40" name="Picture 39" descr="fig3_rank_slo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4302" y="24505920"/>
            <a:ext cx="6188611" cy="548640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28346400" y="10881360"/>
            <a:ext cx="932688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0" y="10972800"/>
            <a:ext cx="932688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E67E22"/>
                </a:solidFill>
                <a:latin typeface="Arial"/>
              </a:rPr>
              <a:t>WHEN DOES IT MATTER?</a:t>
            </a:r>
          </a:p>
        </p:txBody>
      </p:sp>
      <p:pic>
        <p:nvPicPr>
          <p:cNvPr id="43" name="Picture 42" descr="fig2_boundary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20228" y="11612880"/>
            <a:ext cx="8630372" cy="53035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8346400" y="17099280"/>
            <a:ext cx="9326880" cy="329184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008080"/>
                </a:solidFill>
                <a:latin typeface="Arial"/>
              </a:rPr>
              <a:t>Worth the effort when: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✓  Treatment acts primarily through mediators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✓  Strong confounding (treatment-by-indication)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✓  Colliders included in the feature set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>
                <a:solidFill>
                  <a:srgbClr val="6B7280"/>
                </a:solidFill>
                <a:latin typeface="Arial"/>
              </a:rPr>
              <a:t>Ties with standard SHAP when: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✗  Treatment has a strong direct effect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solidFill>
                  <a:srgbClr val="4A5568"/>
                </a:solidFill>
                <a:latin typeface="Arial"/>
              </a:rPr>
              <a:t>✗  Features are weakly correlated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4A5568"/>
                </a:solidFill>
                <a:latin typeface="Arial"/>
              </a:rPr>
              <a:t>✗  Small graph, few structural paths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0" y="20574000"/>
            <a:ext cx="932688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0" y="20665440"/>
            <a:ext cx="932688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C0392B"/>
                </a:solidFill>
                <a:latin typeface="Arial"/>
              </a:rPr>
              <a:t>MIMIC-IV APPLICATION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346400" y="21305520"/>
            <a:ext cx="9326880" cy="31089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A0AEC0"/>
                </a:solidFill>
                <a:latin typeface="Arial"/>
              </a:rPr>
              <a:t>n = 22,717 ICU patients  ·  33 variables  ·  outcome: hospital-acquired pressure injury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0" i="0">
                <a:solidFill>
                  <a:srgbClr val="4A5568"/>
                </a:solidFill>
                <a:latin typeface="Arial"/>
              </a:rPr>
              <a:t>Vasopressors go to the sickest patients — hemodynamic instability, sepsis, prolonged immobility.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800" b="0" i="0">
                <a:solidFill>
                  <a:srgbClr val="4A5568"/>
                </a:solidFill>
                <a:latin typeface="Arial"/>
              </a:rPr>
              <a:t>Standard SHAP ranks vasopressor use near the top. That reflects severity, not a causal effect of the drug.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4A5568"/>
                </a:solidFill>
                <a:latin typeface="Arial"/>
              </a:rPr>
              <a:t>Expert DAG (40 directed edges; demographics → labs → vitals → interventions → outcome) routes credit to upstream severity drivers.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0" y="24597360"/>
            <a:ext cx="932688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346400" y="24688800"/>
            <a:ext cx="9326880" cy="64008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08080"/>
                </a:solidFill>
                <a:latin typeface="Arial"/>
              </a:rPr>
              <a:t>CONCLUSIONS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346400" y="25328880"/>
            <a:ext cx="9326880" cy="402336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1A202C"/>
                </a:solidFill>
                <a:latin typeface="Arial"/>
              </a:rPr>
              <a:t>•  Causal SHAP corrects the topological artifact — rearranges rankings, deflates mediators.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1A202C"/>
                </a:solidFill>
                <a:latin typeface="Arial"/>
              </a:rPr>
              <a:t>•  Improvement over standard SHAP depends on structure: biggest when effects are mediated or confounded.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800" b="0" i="0">
                <a:solidFill>
                  <a:srgbClr val="1A202C"/>
                </a:solidFill>
                <a:latin typeface="Arial"/>
              </a:rPr>
              <a:t>•  No existing tool formalizes the iterative expert-in-the-loop refinement from CPDAG to resolved DAG to causal attribution.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A202C"/>
                </a:solidFill>
                <a:latin typeface="Arial"/>
              </a:rPr>
              <a:t>•  Our application lets epidemiologists observe how DAG edits affect attributions in real time.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31272480"/>
            <a:ext cx="36941760" cy="1828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qr-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0" y="31638240"/>
            <a:ext cx="4206240" cy="42062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3009840" y="35935920"/>
            <a:ext cx="512064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A202C"/>
                </a:solidFill>
                <a:latin typeface="Arial"/>
              </a:rPr>
              <a:t>Interactive dashboard · live demos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31592520"/>
            <a:ext cx="914400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A0AEC0"/>
                </a:solidFill>
                <a:latin typeface="Arial"/>
              </a:rPr>
              <a:t>KEY REFERENCES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" y="32049720"/>
            <a:ext cx="21945600" cy="41148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i="0">
                <a:solidFill>
                  <a:srgbClr val="4A5568"/>
                </a:solidFill>
                <a:latin typeface="Arial"/>
              </a:rPr>
              <a:t>Heskes, Bucur &amp; Claassen (2020). Causal Shapley values. NeurIPS.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i="0">
                <a:solidFill>
                  <a:srgbClr val="4A5568"/>
                </a:solidFill>
                <a:latin typeface="Arial"/>
              </a:rPr>
              <a:t>Janzing, Minorics &amp; Blöbaum (2020). Feature relevance: A causal problem. AISTATS.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i="0">
                <a:solidFill>
                  <a:srgbClr val="4A5568"/>
                </a:solidFill>
                <a:latin typeface="Arial"/>
              </a:rPr>
              <a:t>Frye, Rowat &amp; Feige (2020). Asymmetric Shapley values. NeurIPS.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i="0">
                <a:solidFill>
                  <a:srgbClr val="4A5568"/>
                </a:solidFill>
                <a:latin typeface="Arial"/>
              </a:rPr>
              <a:t>Wang, Wiens &amp; Lundberg (2021). Shapley Flow. AISTATS.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i="0">
                <a:solidFill>
                  <a:srgbClr val="4A5568"/>
                </a:solidFill>
                <a:latin typeface="Arial"/>
              </a:rPr>
              <a:t>Shrier &amp; Platt (2008). Reducing bias through DAGs. BMC Med Res Meth.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i="0">
                <a:solidFill>
                  <a:srgbClr val="4A5568"/>
                </a:solidFill>
                <a:latin typeface="Arial"/>
              </a:rPr>
              <a:t>Alderden et al. (2024). XAI for pressure injury risk. AJCC.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400" b="0" i="0">
                <a:solidFill>
                  <a:srgbClr val="4A5568"/>
                </a:solidFill>
                <a:latin typeface="Arial"/>
              </a:rPr>
              <a:t>Johnson et al. (2023). MIMIC-IV. Scientific Data.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35753040"/>
            <a:ext cx="21945600" cy="457200"/>
          </a:xfrm>
          <a:prstGeom prst="rect">
            <a:avLst/>
          </a:prstGeom>
          <a:noFill/>
        </p:spPr>
        <p:txBody>
          <a:bodyPr wrap="square" lIns="73152" rIns="73152" tIns="54864" bIns="54864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0AEC0"/>
                </a:solidFill>
                <a:latin typeface="Arial"/>
              </a:rPr>
              <a:t>Contact: andy.wilson@utah.edu   ·   github.com/taoofrwd/conference-materials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