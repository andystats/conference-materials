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Helvetica Neue" panose="020B060402020202020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jFaqWLE/HGfowgWYFJ0EbUeRfQ7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D6D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3324" y="-7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42875" lvl="0" indent="-142875" algn="l" rtl="0">
              <a:lnSpc>
                <a:spcPct val="100000"/>
              </a:lnSpc>
              <a:spcBef>
                <a:spcPts val="0"/>
              </a:spcBef>
              <a:spcAft>
                <a:spcPts val="0"/>
              </a:spcAft>
              <a:buSzPts val="1400"/>
              <a:buNone/>
            </a:pPr>
            <a:r>
              <a:rPr lang="en-US" dirty="0"/>
              <a:t>Notes:</a:t>
            </a:r>
            <a:endParaRPr dirty="0"/>
          </a:p>
          <a:p>
            <a:pPr marL="142875" lvl="0" indent="-142875" algn="l" rtl="0">
              <a:lnSpc>
                <a:spcPct val="100000"/>
              </a:lnSpc>
              <a:spcBef>
                <a:spcPts val="0"/>
              </a:spcBef>
              <a:spcAft>
                <a:spcPts val="0"/>
              </a:spcAft>
              <a:buClr>
                <a:schemeClr val="dk1"/>
              </a:buClr>
              <a:buSzPts val="1200"/>
              <a:buFont typeface="Arial"/>
              <a:buChar char="•"/>
            </a:pPr>
            <a:r>
              <a:rPr lang="en-US" dirty="0"/>
              <a:t>In </a:t>
            </a:r>
            <a:r>
              <a:rPr lang="en-US" dirty="0" err="1"/>
              <a:t>Powerpoint</a:t>
            </a:r>
            <a:r>
              <a:rPr lang="en-US" dirty="0"/>
              <a:t>, click View &gt; Guides</a:t>
            </a:r>
            <a:endParaRPr dirty="0"/>
          </a:p>
          <a:p>
            <a:pPr marL="142875" lvl="0" indent="-142875" algn="l" rtl="0">
              <a:lnSpc>
                <a:spcPct val="100000"/>
              </a:lnSpc>
              <a:spcBef>
                <a:spcPts val="0"/>
              </a:spcBef>
              <a:spcAft>
                <a:spcPts val="0"/>
              </a:spcAft>
              <a:buClr>
                <a:schemeClr val="dk1"/>
              </a:buClr>
              <a:buSzPts val="1200"/>
              <a:buFont typeface="Arial"/>
              <a:buChar char="•"/>
            </a:pPr>
            <a:r>
              <a:rPr lang="en-US" dirty="0"/>
              <a:t>Keep text within gutter guides.</a:t>
            </a:r>
            <a:endParaRPr dirty="0"/>
          </a:p>
          <a:p>
            <a:pPr marL="142875" lvl="0" indent="-142875" algn="l" rtl="0">
              <a:lnSpc>
                <a:spcPct val="100000"/>
              </a:lnSpc>
              <a:spcBef>
                <a:spcPts val="0"/>
              </a:spcBef>
              <a:spcAft>
                <a:spcPts val="0"/>
              </a:spcAft>
              <a:buClr>
                <a:schemeClr val="dk1"/>
              </a:buClr>
              <a:buSzPts val="1200"/>
              <a:buFont typeface="Arial"/>
              <a:buChar char="•"/>
            </a:pPr>
            <a:r>
              <a:rPr lang="en-US" dirty="0"/>
              <a:t>Author list: Don’t split names onto two lines (e.g., “Jimmy [break] Smith”). If that happens, use a new line, unless you need the space. </a:t>
            </a:r>
            <a:r>
              <a:rPr lang="en-US" b="1" dirty="0">
                <a:latin typeface="Helvetica Neue"/>
                <a:ea typeface="Helvetica Neue"/>
                <a:cs typeface="Helvetica Neue"/>
                <a:sym typeface="Helvetica Neue"/>
              </a:rPr>
              <a:t>Bold the first names of anybody who’s presenting</a:t>
            </a:r>
            <a:r>
              <a:rPr lang="en-US" dirty="0"/>
              <a:t> in person.</a:t>
            </a:r>
            <a:endParaRPr dirty="0"/>
          </a:p>
          <a:p>
            <a:pPr marL="142875" lvl="0" indent="-142875" algn="l" rtl="0">
              <a:lnSpc>
                <a:spcPct val="100000"/>
              </a:lnSpc>
              <a:spcBef>
                <a:spcPts val="0"/>
              </a:spcBef>
              <a:spcAft>
                <a:spcPts val="0"/>
              </a:spcAft>
              <a:buClr>
                <a:schemeClr val="dk1"/>
              </a:buClr>
              <a:buSzPts val="1200"/>
              <a:buFont typeface="Arial"/>
              <a:buChar char="•"/>
            </a:pPr>
            <a:r>
              <a:rPr lang="en-US" dirty="0"/>
              <a:t>Intro/methods/result: </a:t>
            </a:r>
            <a:r>
              <a:rPr lang="en-US" b="1" dirty="0">
                <a:latin typeface="Helvetica Neue"/>
                <a:ea typeface="Helvetica Neue"/>
                <a:cs typeface="Helvetica Neue"/>
                <a:sym typeface="Helvetica Neue"/>
              </a:rPr>
              <a:t>Do not drop below font size 28</a:t>
            </a:r>
            <a:r>
              <a:rPr lang="en-US" dirty="0"/>
              <a:t>, but if you have extra space, jack up the font size until the space is full.</a:t>
            </a:r>
            <a:endParaRPr dirty="0"/>
          </a:p>
          <a:p>
            <a:pPr marL="142875" lvl="0" indent="-142875" algn="l" rtl="0">
              <a:lnSpc>
                <a:spcPct val="100000"/>
              </a:lnSpc>
              <a:spcBef>
                <a:spcPts val="0"/>
              </a:spcBef>
              <a:spcAft>
                <a:spcPts val="0"/>
              </a:spcAft>
              <a:buClr>
                <a:schemeClr val="dk1"/>
              </a:buClr>
              <a:buSzPts val="1200"/>
              <a:buFont typeface="Arial"/>
              <a:buChar char="•"/>
            </a:pPr>
            <a:r>
              <a:rPr lang="en-US" dirty="0"/>
              <a:t>Do not use color in the sidebars except in graphs/figures. It’ll pull attention from the center and slow interpretation for passersby.</a:t>
            </a:r>
            <a:endParaRPr dirty="0"/>
          </a:p>
        </p:txBody>
      </p:sp>
      <p:sp>
        <p:nvSpPr>
          <p:cNvPr id="84" name="Google Shape;8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576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576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mailto:wilson.stats@gmail.com" TargetMode="External"/><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jpg"/><Relationship Id="rId9"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p:nvPr/>
        </p:nvSpPr>
        <p:spPr>
          <a:xfrm>
            <a:off x="11855064" y="992426"/>
            <a:ext cx="21720599" cy="378561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10000"/>
              <a:buFont typeface="Arial"/>
              <a:buNone/>
            </a:pPr>
            <a:r>
              <a:rPr lang="en-US" sz="8000" b="1" i="0" u="none" strike="noStrike" cap="none" dirty="0">
                <a:solidFill>
                  <a:schemeClr val="accent2">
                    <a:lumMod val="75000"/>
                  </a:schemeClr>
                </a:solidFill>
                <a:latin typeface="Arial"/>
                <a:ea typeface="Arial"/>
                <a:cs typeface="Arial"/>
                <a:sym typeface="Arial"/>
              </a:rPr>
              <a:t>Classic Causal Discovery on a flat table </a:t>
            </a:r>
            <a:r>
              <a:rPr lang="en-US" sz="8000" b="1" i="0" u="none" strike="noStrike" cap="none" dirty="0">
                <a:solidFill>
                  <a:schemeClr val="accent2">
                    <a:lumMod val="50000"/>
                  </a:schemeClr>
                </a:solidFill>
                <a:latin typeface="Arial"/>
                <a:ea typeface="Arial"/>
                <a:cs typeface="Arial"/>
                <a:sym typeface="Arial"/>
              </a:rPr>
              <a:t>returns an equivalence class, not an oriented DAG</a:t>
            </a:r>
            <a:endParaRPr sz="1050" b="0" i="0" u="none" strike="noStrike" cap="none" dirty="0">
              <a:solidFill>
                <a:schemeClr val="accent2">
                  <a:lumMod val="50000"/>
                </a:schemeClr>
              </a:solidFill>
              <a:latin typeface="Arial"/>
              <a:ea typeface="Arial"/>
              <a:cs typeface="Arial"/>
              <a:sym typeface="Arial"/>
            </a:endParaRPr>
          </a:p>
        </p:txBody>
      </p:sp>
      <p:sp>
        <p:nvSpPr>
          <p:cNvPr id="102" name="Google Shape;102;p1" descr="TextBox 2"/>
          <p:cNvSpPr txBox="1"/>
          <p:nvPr/>
        </p:nvSpPr>
        <p:spPr>
          <a:xfrm>
            <a:off x="306758" y="8377676"/>
            <a:ext cx="9842648" cy="20159324"/>
          </a:xfrm>
          <a:prstGeom prst="rect">
            <a:avLst/>
          </a:prstGeom>
          <a:noFill/>
          <a:ln>
            <a:noFill/>
          </a:ln>
        </p:spPr>
        <p:txBody>
          <a:bodyPr spcFirstLastPara="1" wrap="square" lIns="45700" tIns="45700" rIns="45700" bIns="45700" anchor="t" anchorCtr="0">
            <a:spAutoFit/>
          </a:bodyPr>
          <a:lstStyle/>
          <a:p>
            <a:r>
              <a:rPr lang="en-US" sz="4000" b="1" dirty="0">
                <a:solidFill>
                  <a:schemeClr val="bg2"/>
                </a:solidFill>
              </a:rPr>
              <a:t>Abstract</a:t>
            </a:r>
          </a:p>
          <a:p>
            <a:endParaRPr lang="en-US" sz="4000" b="1" dirty="0">
              <a:solidFill>
                <a:schemeClr val="bg2"/>
              </a:solidFill>
            </a:endParaRPr>
          </a:p>
          <a:p>
            <a:r>
              <a:rPr lang="en-US" sz="4000" b="1" cap="all" dirty="0"/>
              <a:t>Background / Objective</a:t>
            </a:r>
          </a:p>
          <a:p>
            <a:r>
              <a:rPr lang="en-US" sz="4000" dirty="0"/>
              <a:t>Traditional causal discovery algorithms face critical limitations in healthcare: they assume “flat” datasets, struggle with EHR relational complexity, and yield equivalence classes rather than fully-oriented graphs. We present an object-centric approach that encodes clinical constraints (temporal precedence, relational structure, informative missingness) while enabling data-driven discovery within that structure. We applied this method to identify candidate causal factors for hospital-acquired pressure injuries (</a:t>
            </a:r>
            <a:r>
              <a:rPr lang="en-US" sz="4000" dirty="0" err="1"/>
              <a:t>HAPrI</a:t>
            </a:r>
            <a:r>
              <a:rPr lang="en-US" sz="4000" dirty="0"/>
              <a:t>) in MIMIC-IV (v3.1).</a:t>
            </a:r>
          </a:p>
          <a:p>
            <a:endParaRPr lang="en-US" sz="4000" dirty="0"/>
          </a:p>
          <a:p>
            <a:r>
              <a:rPr lang="en-US" sz="4000" b="1" cap="all" dirty="0"/>
              <a:t>Methods</a:t>
            </a:r>
          </a:p>
          <a:p>
            <a:r>
              <a:rPr lang="en-US" sz="4000" dirty="0"/>
              <a:t>Using MIMIC-IV adult ICU admissions, we represented patient journeys as temporally ordered “objects” (admissions, procedures, medications, labs) and applied a causal discovery algorithm operating directly on this relational structure without flattening. Domain knowledge constrained the search space, enforcing temporal precedence to minimize target leakage and encoding missingness mechanisms, while the algorithm screened millions of candidate dependencies to construct a sparse causal graph.</a:t>
            </a:r>
          </a:p>
          <a:p>
            <a:endParaRPr lang="en-US" sz="2400" dirty="0"/>
          </a:p>
        </p:txBody>
      </p:sp>
      <p:sp>
        <p:nvSpPr>
          <p:cNvPr id="103" name="Google Shape;103;p1" descr="Rectangle 9"/>
          <p:cNvSpPr/>
          <p:nvPr/>
        </p:nvSpPr>
        <p:spPr>
          <a:xfrm>
            <a:off x="1145018" y="5901708"/>
            <a:ext cx="1671638" cy="1590675"/>
          </a:xfrm>
          <a:prstGeom prst="rect">
            <a:avLst/>
          </a:prstGeom>
          <a:solidFill>
            <a:schemeClr val="accent1">
              <a:lumMod val="20000"/>
              <a:lumOff val="80000"/>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7258"/>
              <a:buFont typeface="Arial"/>
              <a:buNone/>
            </a:pPr>
            <a:endParaRPr sz="7258" b="0" i="0" u="none" strike="noStrike" cap="none">
              <a:solidFill>
                <a:srgbClr val="FFFFFF"/>
              </a:solidFill>
              <a:latin typeface="Calibri"/>
              <a:ea typeface="Calibri"/>
              <a:cs typeface="Calibri"/>
              <a:sym typeface="Calibri"/>
            </a:endParaRPr>
          </a:p>
        </p:txBody>
      </p:sp>
      <p:sp>
        <p:nvSpPr>
          <p:cNvPr id="104" name="Google Shape;104;p1" descr="Rectangle 19"/>
          <p:cNvSpPr txBox="1"/>
          <p:nvPr/>
        </p:nvSpPr>
        <p:spPr>
          <a:xfrm>
            <a:off x="3279883" y="5848878"/>
            <a:ext cx="4014882" cy="2308284"/>
          </a:xfrm>
          <a:prstGeom prst="rect">
            <a:avLst/>
          </a:prstGeom>
          <a:noFill/>
          <a:ln>
            <a:noFill/>
          </a:ln>
        </p:spPr>
        <p:txBody>
          <a:bodyPr spcFirstLastPara="1" wrap="square" lIns="45700" tIns="45700" rIns="45700" bIns="45700" anchor="t" anchorCtr="0">
            <a:spAutoFit/>
          </a:bodyPr>
          <a:lstStyle/>
          <a:p>
            <a:pPr marL="0" marR="0" lvl="0" indent="0" algn="l" rtl="0">
              <a:lnSpc>
                <a:spcPct val="120000"/>
              </a:lnSpc>
              <a:spcBef>
                <a:spcPts val="0"/>
              </a:spcBef>
              <a:spcAft>
                <a:spcPts val="0"/>
              </a:spcAft>
              <a:buClr>
                <a:srgbClr val="000000"/>
              </a:buClr>
              <a:buSzPts val="3600"/>
              <a:buFont typeface="Arial"/>
              <a:buNone/>
            </a:pPr>
            <a:r>
              <a:rPr lang="en-US" sz="3600" b="0" i="0" u="none" strike="noStrike" cap="none" dirty="0">
                <a:solidFill>
                  <a:srgbClr val="808080"/>
                </a:solidFill>
                <a:latin typeface="Arial"/>
                <a:ea typeface="Arial"/>
                <a:cs typeface="Arial"/>
                <a:sym typeface="Arial"/>
              </a:rPr>
              <a:t>PRESENTER:</a:t>
            </a:r>
            <a:r>
              <a:rPr lang="en-US" sz="3600" b="1"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4400"/>
              <a:buFont typeface="Arial"/>
              <a:buNone/>
            </a:pPr>
            <a:r>
              <a:rPr lang="en-US" sz="4400" b="1" i="0" u="none" strike="noStrike" cap="none" dirty="0">
                <a:solidFill>
                  <a:srgbClr val="000000"/>
                </a:solidFill>
                <a:latin typeface="Arial"/>
                <a:ea typeface="Arial"/>
                <a:cs typeface="Arial"/>
                <a:sym typeface="Arial"/>
              </a:rPr>
              <a:t>Andy Wilson</a:t>
            </a:r>
          </a:p>
          <a:p>
            <a:pPr marL="0" marR="0" lvl="0" indent="0" algn="l" rtl="0">
              <a:lnSpc>
                <a:spcPct val="120000"/>
              </a:lnSpc>
              <a:spcBef>
                <a:spcPts val="0"/>
              </a:spcBef>
              <a:spcAft>
                <a:spcPts val="0"/>
              </a:spcAft>
              <a:buClr>
                <a:srgbClr val="000000"/>
              </a:buClr>
              <a:buSzPts val="4400"/>
              <a:buFont typeface="Arial"/>
              <a:buNone/>
            </a:pPr>
            <a:r>
              <a:rPr lang="en-US" sz="2000" dirty="0">
                <a:hlinkClick r:id="rId3"/>
              </a:rPr>
              <a:t>wilson.stats@gmail.com</a:t>
            </a:r>
            <a:endParaRPr lang="en-US" sz="2000" dirty="0"/>
          </a:p>
          <a:p>
            <a:pPr marL="0" marR="0" lvl="0" indent="0" algn="l" rtl="0">
              <a:lnSpc>
                <a:spcPct val="120000"/>
              </a:lnSpc>
              <a:spcBef>
                <a:spcPts val="0"/>
              </a:spcBef>
              <a:spcAft>
                <a:spcPts val="0"/>
              </a:spcAft>
              <a:buClr>
                <a:srgbClr val="000000"/>
              </a:buClr>
              <a:buSzPts val="4400"/>
              <a:buFont typeface="Arial"/>
              <a:buNone/>
            </a:pPr>
            <a:endParaRPr sz="2000" i="0" u="none" strike="noStrike" cap="none" dirty="0">
              <a:solidFill>
                <a:srgbClr val="000000"/>
              </a:solidFill>
              <a:latin typeface="Arial"/>
              <a:ea typeface="Arial"/>
              <a:cs typeface="Arial"/>
              <a:sym typeface="Arial"/>
            </a:endParaRPr>
          </a:p>
        </p:txBody>
      </p:sp>
      <p:sp>
        <p:nvSpPr>
          <p:cNvPr id="105" name="Google Shape;105;p1" descr="TextBox 20"/>
          <p:cNvSpPr txBox="1"/>
          <p:nvPr/>
        </p:nvSpPr>
        <p:spPr>
          <a:xfrm>
            <a:off x="636589" y="635206"/>
            <a:ext cx="9842648" cy="47089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n-US" sz="5400" b="1" i="1" u="none" strike="noStrike" cap="none" spc="300" dirty="0">
                <a:solidFill>
                  <a:srgbClr val="0033A0"/>
                </a:solidFill>
                <a:latin typeface="Arial"/>
                <a:ea typeface="Arial"/>
                <a:cs typeface="Arial"/>
                <a:sym typeface="Arial"/>
              </a:rPr>
              <a:t>Object-Centric Causal Discovery in MIMIC-IV</a:t>
            </a:r>
          </a:p>
          <a:p>
            <a:pPr marL="0" marR="0" lvl="0" indent="0" algn="l" rtl="0">
              <a:lnSpc>
                <a:spcPct val="100000"/>
              </a:lnSpc>
              <a:spcBef>
                <a:spcPts val="0"/>
              </a:spcBef>
              <a:spcAft>
                <a:spcPts val="0"/>
              </a:spcAft>
              <a:buClr>
                <a:srgbClr val="000000"/>
              </a:buClr>
              <a:buSzPts val="5400"/>
              <a:buFont typeface="Arial"/>
              <a:buNone/>
            </a:pPr>
            <a:r>
              <a:rPr lang="en-US" sz="4800" b="1" i="1" u="none" strike="noStrike" cap="none" dirty="0">
                <a:solidFill>
                  <a:schemeClr val="bg2"/>
                </a:solidFill>
                <a:latin typeface="Arial"/>
                <a:ea typeface="Arial"/>
                <a:cs typeface="Arial"/>
                <a:sym typeface="Arial"/>
              </a:rPr>
              <a:t>A discovery-to-inference workflow for identifying candidate upstream drivers of hospital-acquired pressure injury</a:t>
            </a:r>
            <a:endParaRPr sz="4800" b="1" i="1" u="none" strike="noStrike" cap="none" dirty="0">
              <a:solidFill>
                <a:schemeClr val="bg2"/>
              </a:solidFill>
              <a:latin typeface="Arial"/>
              <a:ea typeface="Arial"/>
              <a:cs typeface="Arial"/>
              <a:sym typeface="Arial"/>
            </a:endParaRPr>
          </a:p>
        </p:txBody>
      </p:sp>
      <p:sp>
        <p:nvSpPr>
          <p:cNvPr id="107" name="Google Shape;107;p1" descr="TextBox 21"/>
          <p:cNvSpPr txBox="1"/>
          <p:nvPr/>
        </p:nvSpPr>
        <p:spPr>
          <a:xfrm>
            <a:off x="35847867" y="23543858"/>
            <a:ext cx="7941482" cy="1754286"/>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3600" b="0" i="0" u="none" strike="noStrike" cap="none" dirty="0">
                <a:solidFill>
                  <a:srgbClr val="000000"/>
                </a:solidFill>
                <a:latin typeface="Arial"/>
                <a:ea typeface="Arial"/>
                <a:cs typeface="Arial"/>
                <a:sym typeface="Arial"/>
              </a:rPr>
              <a:t>Michael Haft, PhD</a:t>
            </a:r>
            <a:r>
              <a:rPr lang="en-US" sz="3600" b="0" i="0" u="none" strike="noStrike" cap="none" baseline="30000" dirty="0">
                <a:solidFill>
                  <a:srgbClr val="000000"/>
                </a:solidFill>
                <a:latin typeface="Arial"/>
                <a:ea typeface="Arial"/>
                <a:cs typeface="Arial"/>
                <a:sym typeface="Arial"/>
              </a:rPr>
              <a:t>1</a:t>
            </a:r>
            <a:r>
              <a:rPr lang="en-US" sz="3600" b="0" i="0" u="none" strike="noStrike" cap="none" dirty="0">
                <a:solidFill>
                  <a:srgbClr val="000000"/>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4400"/>
              <a:buFont typeface="Arial"/>
              <a:buNone/>
            </a:pPr>
            <a:r>
              <a:rPr lang="en-US" sz="3600" b="0" i="0" u="none" strike="noStrike" cap="none" dirty="0">
                <a:solidFill>
                  <a:srgbClr val="000000"/>
                </a:solidFill>
                <a:latin typeface="Arial"/>
                <a:ea typeface="Arial"/>
                <a:cs typeface="Arial"/>
                <a:sym typeface="Arial"/>
              </a:rPr>
              <a:t>Jenny </a:t>
            </a:r>
            <a:r>
              <a:rPr lang="en-US" sz="3600" b="0" i="0" u="none" strike="noStrike" cap="none" dirty="0" err="1">
                <a:solidFill>
                  <a:srgbClr val="000000"/>
                </a:solidFill>
                <a:latin typeface="Arial"/>
                <a:ea typeface="Arial"/>
                <a:cs typeface="Arial"/>
                <a:sym typeface="Arial"/>
              </a:rPr>
              <a:t>Alderden,PhD</a:t>
            </a:r>
            <a:r>
              <a:rPr lang="en-US" sz="3600" b="0" i="0" u="none" strike="noStrike" cap="none" dirty="0">
                <a:solidFill>
                  <a:srgbClr val="000000"/>
                </a:solidFill>
                <a:latin typeface="Arial"/>
                <a:ea typeface="Arial"/>
                <a:cs typeface="Arial"/>
                <a:sym typeface="Arial"/>
              </a:rPr>
              <a:t>, RN, FAAN</a:t>
            </a:r>
            <a:r>
              <a:rPr lang="en-US" sz="3600" b="0" i="0" u="none" strike="noStrike" cap="none" baseline="30000" dirty="0">
                <a:solidFill>
                  <a:srgbClr val="000000"/>
                </a:solidFill>
                <a:latin typeface="Arial"/>
                <a:ea typeface="Arial"/>
                <a:cs typeface="Arial"/>
                <a:sym typeface="Arial"/>
              </a:rPr>
              <a:t>2</a:t>
            </a:r>
            <a:r>
              <a:rPr lang="en-US" sz="3600" b="0" i="0" u="none" strike="noStrike" cap="none" dirty="0">
                <a:solidFill>
                  <a:srgbClr val="000000"/>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4400"/>
              <a:buFont typeface="Arial"/>
              <a:buNone/>
            </a:pPr>
            <a:r>
              <a:rPr lang="en-US" sz="3600" b="0" i="0" u="none" strike="noStrike" cap="none" dirty="0">
                <a:solidFill>
                  <a:srgbClr val="000000"/>
                </a:solidFill>
                <a:latin typeface="Arial"/>
                <a:ea typeface="Arial"/>
                <a:cs typeface="Arial"/>
                <a:sym typeface="Arial"/>
              </a:rPr>
              <a:t>Andy Wilson, PhD, MStat</a:t>
            </a:r>
            <a:r>
              <a:rPr lang="en-US" sz="3600" b="0" i="0" u="none" strike="noStrike" cap="none" baseline="30000" dirty="0">
                <a:solidFill>
                  <a:srgbClr val="000000"/>
                </a:solidFill>
                <a:latin typeface="Arial"/>
                <a:ea typeface="Arial"/>
                <a:cs typeface="Arial"/>
                <a:sym typeface="Arial"/>
              </a:rPr>
              <a:t>3,4*</a:t>
            </a:r>
            <a:endParaRPr sz="1100" b="0" i="0" u="none" strike="noStrike" cap="none" baseline="30000" dirty="0">
              <a:solidFill>
                <a:srgbClr val="000000"/>
              </a:solidFill>
              <a:latin typeface="Arial"/>
              <a:ea typeface="Arial"/>
              <a:cs typeface="Arial"/>
              <a:sym typeface="Arial"/>
            </a:endParaRPr>
          </a:p>
        </p:txBody>
      </p:sp>
      <p:sp>
        <p:nvSpPr>
          <p:cNvPr id="108" name="Google Shape;108;p1" descr="Graphic 18"/>
          <p:cNvSpPr/>
          <p:nvPr/>
        </p:nvSpPr>
        <p:spPr>
          <a:xfrm>
            <a:off x="34560633" y="23824894"/>
            <a:ext cx="910567" cy="1120436"/>
          </a:xfrm>
          <a:custGeom>
            <a:avLst/>
            <a:gdLst/>
            <a:ahLst/>
            <a:cxnLst/>
            <a:rect l="l" t="t" r="r" b="b"/>
            <a:pathLst>
              <a:path w="21106" h="21600" extrusionOk="0">
                <a:moveTo>
                  <a:pt x="19855" y="14132"/>
                </a:moveTo>
                <a:cubicBezTo>
                  <a:pt x="18357" y="11554"/>
                  <a:pt x="15748" y="11311"/>
                  <a:pt x="15748" y="11311"/>
                </a:cubicBezTo>
                <a:lnTo>
                  <a:pt x="13549" y="11311"/>
                </a:lnTo>
                <a:cubicBezTo>
                  <a:pt x="12655" y="11822"/>
                  <a:pt x="11640" y="12138"/>
                  <a:pt x="10529" y="12138"/>
                </a:cubicBezTo>
                <a:cubicBezTo>
                  <a:pt x="9417" y="12138"/>
                  <a:pt x="8403" y="11846"/>
                  <a:pt x="7509" y="11311"/>
                </a:cubicBezTo>
                <a:lnTo>
                  <a:pt x="5310" y="11311"/>
                </a:lnTo>
                <a:cubicBezTo>
                  <a:pt x="5310" y="11311"/>
                  <a:pt x="2701" y="11554"/>
                  <a:pt x="1203" y="14132"/>
                </a:cubicBezTo>
                <a:cubicBezTo>
                  <a:pt x="-247" y="16711"/>
                  <a:pt x="19" y="19289"/>
                  <a:pt x="19" y="19289"/>
                </a:cubicBezTo>
                <a:cubicBezTo>
                  <a:pt x="19" y="19289"/>
                  <a:pt x="2314" y="21600"/>
                  <a:pt x="10577" y="21600"/>
                </a:cubicBezTo>
                <a:cubicBezTo>
                  <a:pt x="18840" y="21600"/>
                  <a:pt x="21087" y="19289"/>
                  <a:pt x="21087" y="19289"/>
                </a:cubicBezTo>
                <a:cubicBezTo>
                  <a:pt x="21087" y="19289"/>
                  <a:pt x="21353" y="16711"/>
                  <a:pt x="19855" y="14132"/>
                </a:cubicBezTo>
                <a:close/>
                <a:moveTo>
                  <a:pt x="10553" y="9924"/>
                </a:moveTo>
                <a:cubicBezTo>
                  <a:pt x="13283" y="9924"/>
                  <a:pt x="15482" y="7711"/>
                  <a:pt x="15482" y="4962"/>
                </a:cubicBezTo>
                <a:cubicBezTo>
                  <a:pt x="15482" y="2214"/>
                  <a:pt x="13283" y="0"/>
                  <a:pt x="10553" y="0"/>
                </a:cubicBezTo>
                <a:cubicBezTo>
                  <a:pt x="7823" y="0"/>
                  <a:pt x="5624" y="2238"/>
                  <a:pt x="5624" y="4962"/>
                </a:cubicBezTo>
                <a:cubicBezTo>
                  <a:pt x="5624" y="7711"/>
                  <a:pt x="7823" y="9924"/>
                  <a:pt x="10553" y="9924"/>
                </a:cubicBezTo>
                <a:close/>
              </a:path>
            </a:pathLst>
          </a:custGeom>
          <a:solidFill>
            <a:srgbClr val="80808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7258"/>
              <a:buFont typeface="Arial"/>
              <a:buNone/>
            </a:pPr>
            <a:endParaRPr sz="7258" b="0" i="0" u="none" strike="noStrike" cap="none">
              <a:solidFill>
                <a:srgbClr val="000000"/>
              </a:solidFill>
              <a:latin typeface="Calibri"/>
              <a:ea typeface="Calibri"/>
              <a:cs typeface="Calibri"/>
              <a:sym typeface="Calibri"/>
            </a:endParaRPr>
          </a:p>
        </p:txBody>
      </p:sp>
      <p:sp>
        <p:nvSpPr>
          <p:cNvPr id="109" name="Google Shape;109;p1" descr="Graphic 7"/>
          <p:cNvSpPr/>
          <p:nvPr/>
        </p:nvSpPr>
        <p:spPr>
          <a:xfrm>
            <a:off x="6913077" y="29749453"/>
            <a:ext cx="1528034" cy="2778605"/>
          </a:xfrm>
          <a:custGeom>
            <a:avLst/>
            <a:gdLst/>
            <a:ahLst/>
            <a:cxnLst/>
            <a:rect l="l" t="t" r="r" b="b"/>
            <a:pathLst>
              <a:path w="21600" h="21600" extrusionOk="0">
                <a:moveTo>
                  <a:pt x="3248" y="0"/>
                </a:moveTo>
                <a:cubicBezTo>
                  <a:pt x="1462" y="0"/>
                  <a:pt x="0" y="864"/>
                  <a:pt x="0" y="1920"/>
                </a:cubicBezTo>
                <a:lnTo>
                  <a:pt x="0" y="19680"/>
                </a:lnTo>
                <a:cubicBezTo>
                  <a:pt x="0" y="20736"/>
                  <a:pt x="1462" y="21600"/>
                  <a:pt x="3248" y="21600"/>
                </a:cubicBezTo>
                <a:lnTo>
                  <a:pt x="18352" y="21600"/>
                </a:lnTo>
                <a:cubicBezTo>
                  <a:pt x="20138" y="21600"/>
                  <a:pt x="21600" y="20736"/>
                  <a:pt x="21600" y="19680"/>
                </a:cubicBezTo>
                <a:lnTo>
                  <a:pt x="21600" y="1920"/>
                </a:lnTo>
                <a:cubicBezTo>
                  <a:pt x="21600" y="864"/>
                  <a:pt x="20138" y="0"/>
                  <a:pt x="18352" y="0"/>
                </a:cubicBezTo>
                <a:lnTo>
                  <a:pt x="3248" y="0"/>
                </a:lnTo>
                <a:close/>
                <a:moveTo>
                  <a:pt x="8990" y="1849"/>
                </a:moveTo>
                <a:lnTo>
                  <a:pt x="12611" y="1849"/>
                </a:lnTo>
                <a:cubicBezTo>
                  <a:pt x="12849" y="1849"/>
                  <a:pt x="13042" y="2010"/>
                  <a:pt x="13042" y="2209"/>
                </a:cubicBezTo>
                <a:cubicBezTo>
                  <a:pt x="13042" y="2408"/>
                  <a:pt x="12849" y="2569"/>
                  <a:pt x="12611" y="2569"/>
                </a:cubicBezTo>
                <a:lnTo>
                  <a:pt x="8990" y="2569"/>
                </a:lnTo>
                <a:cubicBezTo>
                  <a:pt x="8752" y="2569"/>
                  <a:pt x="8559" y="2408"/>
                  <a:pt x="8559" y="2209"/>
                </a:cubicBezTo>
                <a:cubicBezTo>
                  <a:pt x="8559" y="2010"/>
                  <a:pt x="8752" y="1849"/>
                  <a:pt x="8990" y="1849"/>
                </a:cubicBezTo>
                <a:close/>
                <a:moveTo>
                  <a:pt x="1784" y="4416"/>
                </a:moveTo>
                <a:lnTo>
                  <a:pt x="19816" y="4416"/>
                </a:lnTo>
                <a:lnTo>
                  <a:pt x="19816" y="17184"/>
                </a:lnTo>
                <a:lnTo>
                  <a:pt x="1784" y="17184"/>
                </a:lnTo>
                <a:lnTo>
                  <a:pt x="1784" y="4416"/>
                </a:lnTo>
                <a:close/>
                <a:moveTo>
                  <a:pt x="10800" y="18203"/>
                </a:moveTo>
                <a:cubicBezTo>
                  <a:pt x="10800" y="18203"/>
                  <a:pt x="10800" y="18203"/>
                  <a:pt x="10800" y="18203"/>
                </a:cubicBezTo>
                <a:cubicBezTo>
                  <a:pt x="11911" y="18203"/>
                  <a:pt x="12811" y="18736"/>
                  <a:pt x="12811" y="19392"/>
                </a:cubicBezTo>
                <a:cubicBezTo>
                  <a:pt x="12811" y="19392"/>
                  <a:pt x="12811" y="19392"/>
                  <a:pt x="12811" y="19392"/>
                </a:cubicBezTo>
                <a:cubicBezTo>
                  <a:pt x="12811" y="19392"/>
                  <a:pt x="12811" y="19392"/>
                  <a:pt x="12811" y="19392"/>
                </a:cubicBezTo>
                <a:cubicBezTo>
                  <a:pt x="12811" y="20049"/>
                  <a:pt x="11911" y="20581"/>
                  <a:pt x="10800" y="20581"/>
                </a:cubicBezTo>
                <a:cubicBezTo>
                  <a:pt x="10800" y="20581"/>
                  <a:pt x="10800" y="20581"/>
                  <a:pt x="10800" y="20581"/>
                </a:cubicBezTo>
                <a:cubicBezTo>
                  <a:pt x="10800" y="20581"/>
                  <a:pt x="10800" y="20581"/>
                  <a:pt x="10800" y="20581"/>
                </a:cubicBezTo>
                <a:cubicBezTo>
                  <a:pt x="9690" y="20581"/>
                  <a:pt x="8789" y="20049"/>
                  <a:pt x="8789" y="19392"/>
                </a:cubicBezTo>
                <a:cubicBezTo>
                  <a:pt x="8789" y="19392"/>
                  <a:pt x="8789" y="19392"/>
                  <a:pt x="8789" y="19392"/>
                </a:cubicBezTo>
                <a:cubicBezTo>
                  <a:pt x="8789" y="19392"/>
                  <a:pt x="8789" y="19392"/>
                  <a:pt x="8789" y="19392"/>
                </a:cubicBezTo>
                <a:cubicBezTo>
                  <a:pt x="8789" y="18736"/>
                  <a:pt x="9690" y="18203"/>
                  <a:pt x="10800" y="18203"/>
                </a:cubicBezTo>
                <a:cubicBezTo>
                  <a:pt x="10800" y="18203"/>
                  <a:pt x="10800" y="18203"/>
                  <a:pt x="10800" y="18203"/>
                </a:cubicBezTo>
                <a:close/>
              </a:path>
            </a:pathLst>
          </a:custGeom>
          <a:solidFill>
            <a:schemeClr val="tx2">
              <a:lumMod val="50000"/>
            </a:scheme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7258"/>
              <a:buFont typeface="Arial"/>
              <a:buNone/>
            </a:pPr>
            <a:endParaRPr sz="7258" b="0" i="0" u="none" strike="noStrike" cap="none">
              <a:solidFill>
                <a:srgbClr val="D9D9D9"/>
              </a:solidFill>
              <a:latin typeface="Calibri"/>
              <a:ea typeface="Calibri"/>
              <a:cs typeface="Calibri"/>
              <a:sym typeface="Calibri"/>
            </a:endParaRPr>
          </a:p>
        </p:txBody>
      </p:sp>
      <p:cxnSp>
        <p:nvCxnSpPr>
          <p:cNvPr id="111" name="Google Shape;111;p1" descr="Straight Arrow Connector 23"/>
          <p:cNvCxnSpPr/>
          <p:nvPr/>
        </p:nvCxnSpPr>
        <p:spPr>
          <a:xfrm rot="10800000">
            <a:off x="4986281" y="30787041"/>
            <a:ext cx="1296988" cy="0"/>
          </a:xfrm>
          <a:prstGeom prst="straightConnector1">
            <a:avLst/>
          </a:prstGeom>
          <a:noFill/>
          <a:ln w="66675" cap="flat" cmpd="sng">
            <a:solidFill>
              <a:schemeClr val="bg2"/>
            </a:solidFill>
            <a:prstDash val="dot"/>
            <a:round/>
            <a:headEnd type="none" w="sm" len="sm"/>
            <a:tailEnd type="triangle" w="med" len="med"/>
          </a:ln>
        </p:spPr>
      </p:cxnSp>
      <p:sp>
        <p:nvSpPr>
          <p:cNvPr id="114" name="Google Shape;114;p1"/>
          <p:cNvSpPr/>
          <p:nvPr/>
        </p:nvSpPr>
        <p:spPr>
          <a:xfrm>
            <a:off x="11855064" y="27849276"/>
            <a:ext cx="3938137" cy="393813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58"/>
              <a:buFont typeface="Arial"/>
              <a:buNone/>
            </a:pPr>
            <a:endParaRPr sz="7258" b="0" i="0" u="none" strike="noStrike" cap="none">
              <a:solidFill>
                <a:schemeClr val="lt1"/>
              </a:solidFill>
              <a:latin typeface="Calibri"/>
              <a:ea typeface="Calibri"/>
              <a:cs typeface="Calibri"/>
              <a:sym typeface="Calibri"/>
            </a:endParaRPr>
          </a:p>
        </p:txBody>
      </p:sp>
      <p:sp>
        <p:nvSpPr>
          <p:cNvPr id="115" name="Google Shape;115;p1"/>
          <p:cNvSpPr txBox="1"/>
          <p:nvPr/>
        </p:nvSpPr>
        <p:spPr>
          <a:xfrm>
            <a:off x="5557913" y="28723977"/>
            <a:ext cx="332202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Arial"/>
                <a:ea typeface="Arial"/>
                <a:cs typeface="Arial"/>
                <a:sym typeface="Arial"/>
              </a:rPr>
              <a:t>QR Code</a:t>
            </a:r>
            <a:endParaRPr sz="1400" b="0" i="0" u="none" strike="noStrike" cap="none" dirty="0">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AF6A4E7C-BFA2-CDA5-03A0-E4A75F16E6B2}"/>
              </a:ext>
            </a:extLst>
          </p:cNvPr>
          <p:cNvPicPr>
            <a:picLocks noChangeAspect="1"/>
          </p:cNvPicPr>
          <p:nvPr/>
        </p:nvPicPr>
        <p:blipFill>
          <a:blip r:embed="rId4"/>
          <a:stretch>
            <a:fillRect/>
          </a:stretch>
        </p:blipFill>
        <p:spPr>
          <a:xfrm>
            <a:off x="41105553" y="28786193"/>
            <a:ext cx="2404453" cy="2224119"/>
          </a:xfrm>
          <a:prstGeom prst="rect">
            <a:avLst/>
          </a:prstGeom>
        </p:spPr>
      </p:pic>
      <p:pic>
        <p:nvPicPr>
          <p:cNvPr id="11" name="Picture 10">
            <a:extLst>
              <a:ext uri="{FF2B5EF4-FFF2-40B4-BE49-F238E27FC236}">
                <a16:creationId xmlns:a16="http://schemas.microsoft.com/office/drawing/2014/main" id="{FC0577E7-B18E-2206-4007-691B14228D68}"/>
              </a:ext>
            </a:extLst>
          </p:cNvPr>
          <p:cNvPicPr>
            <a:picLocks noChangeAspect="1"/>
          </p:cNvPicPr>
          <p:nvPr/>
        </p:nvPicPr>
        <p:blipFill>
          <a:blip r:embed="rId5"/>
          <a:stretch>
            <a:fillRect/>
          </a:stretch>
        </p:blipFill>
        <p:spPr>
          <a:xfrm>
            <a:off x="306758" y="28652684"/>
            <a:ext cx="4205561" cy="4205561"/>
          </a:xfrm>
          <a:prstGeom prst="rect">
            <a:avLst/>
          </a:prstGeom>
        </p:spPr>
      </p:pic>
      <p:sp>
        <p:nvSpPr>
          <p:cNvPr id="21" name="TextBox 20">
            <a:extLst>
              <a:ext uri="{FF2B5EF4-FFF2-40B4-BE49-F238E27FC236}">
                <a16:creationId xmlns:a16="http://schemas.microsoft.com/office/drawing/2014/main" id="{0817FAFC-E220-71FB-76F0-2C359A5BAC9F}"/>
              </a:ext>
            </a:extLst>
          </p:cNvPr>
          <p:cNvSpPr txBox="1"/>
          <p:nvPr/>
        </p:nvSpPr>
        <p:spPr>
          <a:xfrm>
            <a:off x="35015917" y="4683504"/>
            <a:ext cx="8746783" cy="17943374"/>
          </a:xfrm>
          <a:prstGeom prst="rect">
            <a:avLst/>
          </a:prstGeom>
          <a:noFill/>
        </p:spPr>
        <p:txBody>
          <a:bodyPr wrap="square">
            <a:spAutoFit/>
          </a:bodyPr>
          <a:lstStyle/>
          <a:p>
            <a:r>
              <a:rPr lang="en-US" sz="4000" b="1" cap="all" dirty="0"/>
              <a:t>Results</a:t>
            </a:r>
          </a:p>
          <a:p>
            <a:r>
              <a:rPr lang="en-US" sz="4000" dirty="0"/>
              <a:t>The algorithm prioritized hypoalbuminemia as a </a:t>
            </a:r>
            <a:r>
              <a:rPr lang="en-US" sz="4000" i="1" dirty="0"/>
              <a:t>candidate upstream driver</a:t>
            </a:r>
            <a:r>
              <a:rPr lang="en-US" sz="4000" dirty="0"/>
              <a:t> of </a:t>
            </a:r>
            <a:r>
              <a:rPr lang="en-US" sz="4000" dirty="0" err="1"/>
              <a:t>HAPrI</a:t>
            </a:r>
            <a:r>
              <a:rPr lang="en-US" sz="4000" dirty="0"/>
              <a:t>, pending clinician review and confirmatory target-trial / TMLE analysis. It rediscovered established risk factors (mechanical ventilation, hemodynamic instability, immobility, moisture exposure, yeast colonization) without manual feature engineering, and </a:t>
            </a:r>
            <a:r>
              <a:rPr lang="en-US" sz="4000" dirty="0">
                <a:solidFill>
                  <a:schemeClr val="bg2"/>
                </a:solidFill>
              </a:rPr>
              <a:t>flagged fluid management patterns and albumin administration timing as secondary candidate edges</a:t>
            </a:r>
            <a:r>
              <a:rPr lang="en-US" sz="4000" dirty="0"/>
              <a:t>.</a:t>
            </a:r>
          </a:p>
          <a:p>
            <a:endParaRPr lang="en-US" sz="4000" dirty="0"/>
          </a:p>
          <a:p>
            <a:r>
              <a:rPr lang="en-US" sz="4000" b="1" cap="all" dirty="0"/>
              <a:t>Conclusions</a:t>
            </a:r>
          </a:p>
          <a:p>
            <a:r>
              <a:rPr lang="en-US" sz="4000" dirty="0"/>
              <a:t>Object-centric causal discovery offers a middle path between purely data-driven search and expert-specified DAGs: clinical knowledge disciplines the algorithm, while the algorithm surfaces relationships experts might overlook. </a:t>
            </a:r>
            <a:r>
              <a:rPr lang="en-US" sz="4000" dirty="0">
                <a:solidFill>
                  <a:schemeClr val="bg2"/>
                </a:solidFill>
              </a:rPr>
              <a:t>Future work will engage clinicians to refine the graph and employ modern causal estimators (TMLE, longitudinal g-methods) to quantify effects of albumin and other interventions on </a:t>
            </a:r>
            <a:r>
              <a:rPr lang="en-US" sz="4000" dirty="0" err="1">
                <a:solidFill>
                  <a:schemeClr val="bg2"/>
                </a:solidFill>
              </a:rPr>
              <a:t>HAPrI</a:t>
            </a:r>
            <a:r>
              <a:rPr lang="en-US" sz="4000" dirty="0">
                <a:solidFill>
                  <a:schemeClr val="bg2"/>
                </a:solidFill>
              </a:rPr>
              <a:t> risk.</a:t>
            </a:r>
          </a:p>
        </p:txBody>
      </p:sp>
      <p:sp>
        <p:nvSpPr>
          <p:cNvPr id="23" name="TextBox 22">
            <a:extLst>
              <a:ext uri="{FF2B5EF4-FFF2-40B4-BE49-F238E27FC236}">
                <a16:creationId xmlns:a16="http://schemas.microsoft.com/office/drawing/2014/main" id="{B655D87C-E5C0-8516-339A-DDB924B91060}"/>
              </a:ext>
            </a:extLst>
          </p:cNvPr>
          <p:cNvSpPr txBox="1"/>
          <p:nvPr/>
        </p:nvSpPr>
        <p:spPr>
          <a:xfrm>
            <a:off x="34670483" y="386081"/>
            <a:ext cx="9027790" cy="2800767"/>
          </a:xfrm>
          <a:prstGeom prst="rect">
            <a:avLst/>
          </a:prstGeom>
          <a:solidFill>
            <a:schemeClr val="accent4">
              <a:lumMod val="20000"/>
              <a:lumOff val="80000"/>
            </a:schemeClr>
          </a:solidFill>
        </p:spPr>
        <p:txBody>
          <a:bodyPr wrap="square">
            <a:spAutoFit/>
          </a:bodyPr>
          <a:lstStyle/>
          <a:p>
            <a:pPr algn="ctr"/>
            <a:r>
              <a:rPr lang="en-US" sz="4400" b="1" dirty="0">
                <a:solidFill>
                  <a:schemeClr val="bg2"/>
                </a:solidFill>
              </a:rPr>
              <a:t>Results from a real-world data example:</a:t>
            </a:r>
          </a:p>
          <a:p>
            <a:pPr algn="ctr"/>
            <a:r>
              <a:rPr lang="en-US" sz="4400" dirty="0"/>
              <a:t>Hospital-acquired pressure injuries in the ICU: Using MIMIC IV v 3.1: </a:t>
            </a:r>
            <a:endParaRPr lang="en-US" sz="4400" dirty="0">
              <a:solidFill>
                <a:schemeClr val="accent2">
                  <a:lumMod val="75000"/>
                </a:schemeClr>
              </a:solidFill>
              <a:latin typeface="+mn-lt"/>
            </a:endParaRPr>
          </a:p>
        </p:txBody>
      </p:sp>
      <p:pic>
        <p:nvPicPr>
          <p:cNvPr id="16" name="Picture 15">
            <a:extLst>
              <a:ext uri="{FF2B5EF4-FFF2-40B4-BE49-F238E27FC236}">
                <a16:creationId xmlns:a16="http://schemas.microsoft.com/office/drawing/2014/main" id="{88E5B43C-1CCD-0480-6215-17BEFDEC32E3}"/>
              </a:ext>
            </a:extLst>
          </p:cNvPr>
          <p:cNvPicPr>
            <a:picLocks noChangeAspect="1"/>
          </p:cNvPicPr>
          <p:nvPr/>
        </p:nvPicPr>
        <p:blipFill>
          <a:blip r:embed="rId6"/>
          <a:stretch>
            <a:fillRect/>
          </a:stretch>
        </p:blipFill>
        <p:spPr>
          <a:xfrm>
            <a:off x="34026974" y="28322280"/>
            <a:ext cx="5469338" cy="1637443"/>
          </a:xfrm>
          <a:prstGeom prst="rect">
            <a:avLst/>
          </a:prstGeom>
        </p:spPr>
      </p:pic>
      <p:pic>
        <p:nvPicPr>
          <p:cNvPr id="5" name="Graphic 4">
            <a:extLst>
              <a:ext uri="{FF2B5EF4-FFF2-40B4-BE49-F238E27FC236}">
                <a16:creationId xmlns:a16="http://schemas.microsoft.com/office/drawing/2014/main" id="{3DE8FE3D-BCEF-77CC-2D30-24B925A608A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10478" y="5344147"/>
            <a:ext cx="23195054" cy="11511619"/>
          </a:xfrm>
          <a:prstGeom prst="rect">
            <a:avLst/>
          </a:prstGeom>
        </p:spPr>
      </p:pic>
      <p:pic>
        <p:nvPicPr>
          <p:cNvPr id="9" name="Picture 8">
            <a:extLst>
              <a:ext uri="{FF2B5EF4-FFF2-40B4-BE49-F238E27FC236}">
                <a16:creationId xmlns:a16="http://schemas.microsoft.com/office/drawing/2014/main" id="{947B985D-C488-3913-75BE-235350BDAE2B}"/>
              </a:ext>
            </a:extLst>
          </p:cNvPr>
          <p:cNvPicPr>
            <a:picLocks noChangeAspect="1"/>
          </p:cNvPicPr>
          <p:nvPr/>
        </p:nvPicPr>
        <p:blipFill>
          <a:blip r:embed="rId8"/>
          <a:srcRect l="5276" t="3286" r="6735" b="5417"/>
          <a:stretch>
            <a:fillRect/>
          </a:stretch>
        </p:blipFill>
        <p:spPr>
          <a:xfrm>
            <a:off x="19712166" y="18821850"/>
            <a:ext cx="13038667" cy="7610056"/>
          </a:xfrm>
          <a:prstGeom prst="rect">
            <a:avLst/>
          </a:prstGeom>
        </p:spPr>
      </p:pic>
      <p:pic>
        <p:nvPicPr>
          <p:cNvPr id="2" name="Grafik 19">
            <a:extLst>
              <a:ext uri="{FF2B5EF4-FFF2-40B4-BE49-F238E27FC236}">
                <a16:creationId xmlns:a16="http://schemas.microsoft.com/office/drawing/2014/main" id="{6CF17E4B-62F8-C4E3-ECF9-33D089D2701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374145" y="20062534"/>
            <a:ext cx="7172151" cy="5074232"/>
          </a:xfrm>
          <a:prstGeom prst="rect">
            <a:avLst/>
          </a:prstGeom>
        </p:spPr>
      </p:pic>
      <p:pic>
        <p:nvPicPr>
          <p:cNvPr id="4" name="Picture 3">
            <a:extLst>
              <a:ext uri="{FF2B5EF4-FFF2-40B4-BE49-F238E27FC236}">
                <a16:creationId xmlns:a16="http://schemas.microsoft.com/office/drawing/2014/main" id="{467F9871-CFD3-2005-7841-AE55D58952B5}"/>
              </a:ext>
            </a:extLst>
          </p:cNvPr>
          <p:cNvPicPr>
            <a:picLocks noChangeAspect="1"/>
          </p:cNvPicPr>
          <p:nvPr/>
        </p:nvPicPr>
        <p:blipFill>
          <a:blip r:embed="rId10"/>
          <a:srcRect t="46927"/>
          <a:stretch>
            <a:fillRect/>
          </a:stretch>
        </p:blipFill>
        <p:spPr>
          <a:xfrm>
            <a:off x="15250885" y="27652216"/>
            <a:ext cx="14321253" cy="5237240"/>
          </a:xfrm>
          <a:prstGeom prst="rect">
            <a:avLst/>
          </a:prstGeom>
        </p:spPr>
      </p:pic>
      <p:sp>
        <p:nvSpPr>
          <p:cNvPr id="14" name="Arrow: Right 13">
            <a:extLst>
              <a:ext uri="{FF2B5EF4-FFF2-40B4-BE49-F238E27FC236}">
                <a16:creationId xmlns:a16="http://schemas.microsoft.com/office/drawing/2014/main" id="{36058E3C-1AA9-5BBA-6040-D539A844BD85}"/>
              </a:ext>
            </a:extLst>
          </p:cNvPr>
          <p:cNvSpPr/>
          <p:nvPr/>
        </p:nvSpPr>
        <p:spPr>
          <a:xfrm>
            <a:off x="18326100" y="22301200"/>
            <a:ext cx="1409700" cy="596900"/>
          </a:xfrm>
          <a:prstGeom prst="rightArrow">
            <a:avLst/>
          </a:prstGeom>
          <a:solidFill>
            <a:srgbClr val="4472C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2BBEDB5B-5F48-DF4A-2C7A-319CCAA09E7C}"/>
              </a:ext>
            </a:extLst>
          </p:cNvPr>
          <p:cNvSpPr/>
          <p:nvPr/>
        </p:nvSpPr>
        <p:spPr>
          <a:xfrm rot="5400000">
            <a:off x="26377900" y="26577683"/>
            <a:ext cx="1409700" cy="596900"/>
          </a:xfrm>
          <a:prstGeom prst="rightArrow">
            <a:avLst/>
          </a:prstGeom>
          <a:solidFill>
            <a:srgbClr val="4472C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67F9871-CFD3-2005-7841-AE55D58952B5}"/>
              </a:ext>
            </a:extLst>
          </p:cNvPr>
          <p:cNvPicPr>
            <a:picLocks noChangeAspect="1"/>
          </p:cNvPicPr>
          <p:nvPr/>
        </p:nvPicPr>
        <p:blipFill>
          <a:blip r:embed="rId10"/>
          <a:srcRect r="15791" b="55762"/>
          <a:stretch>
            <a:fillRect/>
          </a:stretch>
        </p:blipFill>
        <p:spPr>
          <a:xfrm>
            <a:off x="26784300" y="29749453"/>
            <a:ext cx="6384149" cy="2310954"/>
          </a:xfrm>
          <a:prstGeom prst="rect">
            <a:avLst/>
          </a:prstGeom>
        </p:spPr>
      </p:pic>
      <p:sp>
        <p:nvSpPr>
          <p:cNvPr id="18" name="TextBox 17">
            <a:extLst>
              <a:ext uri="{FF2B5EF4-FFF2-40B4-BE49-F238E27FC236}">
                <a16:creationId xmlns:a16="http://schemas.microsoft.com/office/drawing/2014/main" id="{485F00B2-6959-2B8A-5EBE-264944439662}"/>
              </a:ext>
            </a:extLst>
          </p:cNvPr>
          <p:cNvSpPr txBox="1"/>
          <p:nvPr/>
        </p:nvSpPr>
        <p:spPr>
          <a:xfrm>
            <a:off x="10966444" y="17837106"/>
            <a:ext cx="8745721" cy="1815882"/>
          </a:xfrm>
          <a:prstGeom prst="rect">
            <a:avLst/>
          </a:prstGeom>
          <a:noFill/>
        </p:spPr>
        <p:txBody>
          <a:bodyPr wrap="square">
            <a:spAutoFit/>
          </a:bodyPr>
          <a:lstStyle/>
          <a:p>
            <a:r>
              <a:rPr lang="en-US" sz="2800" dirty="0">
                <a:solidFill>
                  <a:schemeClr val="bg2"/>
                </a:solidFill>
              </a:rPr>
              <a:t>The causal-discovery search operates directly on this relational/object structure </a:t>
            </a:r>
            <a:br>
              <a:rPr lang="en-US" sz="2800" dirty="0">
                <a:solidFill>
                  <a:schemeClr val="bg2"/>
                </a:solidFill>
              </a:rPr>
            </a:br>
            <a:endParaRPr lang="en-US" sz="2800" dirty="0">
              <a:solidFill>
                <a:schemeClr val="bg2"/>
              </a:solidFill>
            </a:endParaRPr>
          </a:p>
          <a:p>
            <a:r>
              <a:rPr lang="en-US" sz="2800" dirty="0">
                <a:solidFill>
                  <a:schemeClr val="bg2"/>
                </a:solidFill>
              </a:rPr>
              <a:t>... thereby taking temporal precedence into account</a:t>
            </a:r>
          </a:p>
        </p:txBody>
      </p:sp>
      <p:pic>
        <p:nvPicPr>
          <p:cNvPr id="20" name="Google Shape;17;p3" descr="A close up of a sign&#10;&#10;Description automatically generated">
            <a:extLst>
              <a:ext uri="{FF2B5EF4-FFF2-40B4-BE49-F238E27FC236}">
                <a16:creationId xmlns:a16="http://schemas.microsoft.com/office/drawing/2014/main" id="{4818A2D4-716B-5F31-92F4-E6A6772B77D8}"/>
              </a:ext>
            </a:extLst>
          </p:cNvPr>
          <p:cNvPicPr preferRelativeResize="0"/>
          <p:nvPr/>
        </p:nvPicPr>
        <p:blipFill rotWithShape="1">
          <a:blip r:embed="rId11">
            <a:alphaModFix/>
          </a:blip>
          <a:srcRect/>
          <a:stretch/>
        </p:blipFill>
        <p:spPr>
          <a:xfrm>
            <a:off x="34367608" y="30287173"/>
            <a:ext cx="6845087" cy="2696549"/>
          </a:xfrm>
          <a:prstGeom prst="rect">
            <a:avLst/>
          </a:prstGeom>
          <a:noFill/>
          <a:ln>
            <a:noFill/>
          </a:ln>
        </p:spPr>
      </p:pic>
      <p:sp>
        <p:nvSpPr>
          <p:cNvPr id="22" name="Rectangle: Rounded Corners 21">
            <a:extLst>
              <a:ext uri="{FF2B5EF4-FFF2-40B4-BE49-F238E27FC236}">
                <a16:creationId xmlns:a16="http://schemas.microsoft.com/office/drawing/2014/main" id="{253D1961-19ED-C639-5908-A9AD4E2C8774}"/>
              </a:ext>
            </a:extLst>
          </p:cNvPr>
          <p:cNvSpPr/>
          <p:nvPr/>
        </p:nvSpPr>
        <p:spPr>
          <a:xfrm>
            <a:off x="34440889" y="144127"/>
            <a:ext cx="9395093" cy="23128734"/>
          </a:xfrm>
          <a:prstGeom prst="roundRect">
            <a:avLst>
              <a:gd name="adj" fmla="val 375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F5E6990D-D33C-F146-7B65-9C75B3BAB4D5}"/>
              </a:ext>
            </a:extLst>
          </p:cNvPr>
          <p:cNvSpPr/>
          <p:nvPr/>
        </p:nvSpPr>
        <p:spPr>
          <a:xfrm>
            <a:off x="157486" y="8197765"/>
            <a:ext cx="10259676" cy="20159324"/>
          </a:xfrm>
          <a:prstGeom prst="roundRect">
            <a:avLst>
              <a:gd name="adj" fmla="val 375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B560626E-21C7-C18E-F80E-0F9B74A695B1}"/>
              </a:ext>
            </a:extLst>
          </p:cNvPr>
          <p:cNvCxnSpPr>
            <a:cxnSpLocks/>
          </p:cNvCxnSpPr>
          <p:nvPr/>
        </p:nvCxnSpPr>
        <p:spPr>
          <a:xfrm>
            <a:off x="11065472" y="17314938"/>
            <a:ext cx="22448963" cy="106938"/>
          </a:xfrm>
          <a:prstGeom prst="line">
            <a:avLst/>
          </a:prstGeom>
        </p:spPr>
        <p:style>
          <a:lnRef idx="1">
            <a:schemeClr val="accent1"/>
          </a:lnRef>
          <a:fillRef idx="0">
            <a:schemeClr val="accent1"/>
          </a:fillRef>
          <a:effectRef idx="0">
            <a:schemeClr val="accent1"/>
          </a:effectRef>
          <a:fontRef idx="minor">
            <a:schemeClr val="tx1"/>
          </a:fontRef>
        </p:style>
      </p:cxnSp>
      <p:sp>
        <p:nvSpPr>
          <p:cNvPr id="36" name="Google Shape;107;p1" descr="TextBox 21">
            <a:extLst>
              <a:ext uri="{FF2B5EF4-FFF2-40B4-BE49-F238E27FC236}">
                <a16:creationId xmlns:a16="http://schemas.microsoft.com/office/drawing/2014/main" id="{6FCDDE9E-AFF4-FE66-8B95-69CF67685B5F}"/>
              </a:ext>
            </a:extLst>
          </p:cNvPr>
          <p:cNvSpPr txBox="1"/>
          <p:nvPr/>
        </p:nvSpPr>
        <p:spPr>
          <a:xfrm>
            <a:off x="35015916" y="25783722"/>
            <a:ext cx="8093883" cy="954067"/>
          </a:xfrm>
          <a:prstGeom prst="rect">
            <a:avLst/>
          </a:prstGeom>
          <a:noFill/>
          <a:ln>
            <a:noFill/>
          </a:ln>
        </p:spPr>
        <p:txBody>
          <a:bodyPr spcFirstLastPara="1" wrap="square" lIns="45700" tIns="45700" rIns="45700" bIns="45700" anchor="t" anchorCtr="0">
            <a:spAutoFit/>
          </a:bodyPr>
          <a:lstStyle/>
          <a:p>
            <a:pPr lvl="0">
              <a:buSzPts val="4400"/>
            </a:pPr>
            <a:r>
              <a:rPr lang="en-US" sz="2800" b="0" i="0" u="none" strike="noStrike" cap="none" baseline="30000" dirty="0">
                <a:solidFill>
                  <a:srgbClr val="000000"/>
                </a:solidFill>
                <a:latin typeface="Arial"/>
                <a:ea typeface="Arial"/>
                <a:cs typeface="Arial"/>
                <a:sym typeface="Arial"/>
              </a:rPr>
              <a:t>1</a:t>
            </a:r>
            <a:r>
              <a:rPr lang="en-US" sz="2800" b="0" i="0" u="none" strike="noStrike" cap="none" dirty="0">
                <a:solidFill>
                  <a:srgbClr val="000000"/>
                </a:solidFill>
                <a:latin typeface="Arial"/>
                <a:ea typeface="Arial"/>
                <a:cs typeface="Arial"/>
                <a:sym typeface="Arial"/>
              </a:rPr>
              <a:t>Xplain Data, Munich, </a:t>
            </a:r>
            <a:r>
              <a:rPr lang="en-US" sz="2800" b="0" i="0" u="none" strike="noStrike" cap="none" baseline="30000" dirty="0">
                <a:solidFill>
                  <a:srgbClr val="000000"/>
                </a:solidFill>
                <a:latin typeface="Arial"/>
                <a:ea typeface="Arial"/>
                <a:cs typeface="Arial"/>
                <a:sym typeface="Arial"/>
              </a:rPr>
              <a:t>2</a:t>
            </a:r>
            <a:r>
              <a:rPr lang="en-US" sz="2800" dirty="0"/>
              <a:t>Boise State University, </a:t>
            </a:r>
          </a:p>
          <a:p>
            <a:pPr lvl="0">
              <a:buSzPts val="4400"/>
            </a:pPr>
            <a:r>
              <a:rPr lang="en-US" sz="2800" baseline="30000" dirty="0"/>
              <a:t>3</a:t>
            </a:r>
            <a:r>
              <a:rPr lang="en-US" sz="2800" dirty="0"/>
              <a:t> University of Utah, </a:t>
            </a:r>
            <a:r>
              <a:rPr lang="en-US" sz="2800" baseline="30000" dirty="0"/>
              <a:t>4</a:t>
            </a:r>
            <a:r>
              <a:rPr lang="en-US" sz="2800" dirty="0"/>
              <a:t>Tao of RWD, *Presenter</a:t>
            </a:r>
            <a:endParaRPr sz="2800" b="0" i="0" u="none" strike="noStrike" cap="none" baseline="3000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530</Words>
  <Application>Microsoft Office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andrew wilson</dc:creator>
  <cp:lastModifiedBy>andrew wilson</cp:lastModifiedBy>
  <cp:revision>8</cp:revision>
  <dcterms:modified xsi:type="dcterms:W3CDTF">2026-04-26T18:01:33Z</dcterms:modified>
</cp:coreProperties>
</file>